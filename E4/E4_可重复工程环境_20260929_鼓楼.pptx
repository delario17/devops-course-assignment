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22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E4 是工程骨架阶段（阶段 1）的最后一步。E5 起进入论文复现，所有实验都在 E4 建立的环境中进行。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出处：实验里程碑表 E4“共同建立 Docker、依赖固定、Secret、测试与一键命令”，最低验收证据“镜像/Compose、基线日志、无密钥泄露”；课程项目设计第九节 Sprint 2“服务必须在其他同学机器运行”。</a:t>
            </a:r>
          </a:p>
          <a:p>
            <a:r>
              <a:t>E4 的对象是各组自己的服务仓库（A：BuildChecker，B：DRAFT），不是课程统一的实验镜像；E3 的样例只用来做冒烟测试。</a:t>
            </a:r>
          </a:p>
          <a:p>
            <a:r>
              <a:t>当堂做不完的部分可以课后继续完成。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左边：里程碑表中 E5 复现、E6/E7 的 CI 门禁、E12 联调、E14 发布都依赖同一个环境。</a:t>
            </a:r>
          </a:p>
          <a:p>
            <a:r>
              <a:t>右边：DRAFT 论文引用 Cito 等人的研究，超过三分之一的 Dockerfile 构建失败；DRAFT 在 conductor 项目上失败，原因是 Debian 源信息变化导致 apt-get update 失败。</a:t>
            </a:r>
          </a:p>
          <a:p>
            <a:r>
              <a:t>引出本次的核心问题：怎样让别人、以后、换一台机器还能得到同样结果。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目录与课程项目设计附录 A 的建议仓库结构一致：services/&lt;服务名&gt;/ 放服务代码，fixtures/ 放测试样例。</a:t>
            </a:r>
          </a:p>
          <a:p>
            <a:r>
              <a:t>E4 只要求骨架：一个 CLI 入口（version、smoke 两个子命令）和几条单元测试；E5 在这里开始写复现脚本，E6 做成 MVP。</a:t>
            </a:r>
          </a:p>
          <a:p>
            <a:r>
              <a:t>B 组模板路径为 services/draft/，fixtures/draft/ 是 E3 的 Tiny Greeting 样例。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苏州 A01—A17、B01—B17 已各分配一台阿里云服务器与公网 IP。教师或管理员先逐台轮换统一的初始 root 凭据，再按组私发新的 SSH 登录信息；不要向全班分发含全部 IP 和初始密码的表格。组内按课程约定共用实验账号。阿里云 SSH 指南：https://www.alibabacloud.com/help/en/ecs/user-guide/connect-to-a-linux-instance-by-using-an-ssh-key-pair</a:t>
            </a:r>
          </a:p>
          <a:p>
            <a:r>
              <a:t>因为账号共用，git config --global 会被所有人共享，提交作者就分不清了。所以只在自己的克隆目录里设置（不加 --global）。</a:t>
            </a:r>
          </a:p>
          <a:p>
            <a:r>
              <a:t>个人贡献在评分中占 10%，按提交作者统计，因此统一用学号。user.email 如需关联代码托管平台账号，要与平台上绑定的邮箱一致。</a:t>
            </a:r>
          </a:p>
          <a:p>
            <a:r>
              <a:t>镜像名也取自 user.name（例如 e4-buildchecker:&lt;学号&gt;），组员在同一台服务器上互不覆盖。make doctor 会检查身份设置。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逐层讲：</a:t>
            </a:r>
          </a:p>
          <a:p>
            <a:r>
              <a:t>1 服务器：系统版本、CPU 架构、Docker 版本，用 make doctor 记录。</a:t>
            </a:r>
          </a:p>
          <a:p>
            <a:r>
              <a:t>2 基础镜像：用 digest 而不是标签。</a:t>
            </a:r>
          </a:p>
          <a:p>
            <a:r>
              <a:t>3 依赖：Python 包用带哈希的锁文件；apt 工具锁不住，就导出实际版本清单。</a:t>
            </a:r>
          </a:p>
          <a:p>
            <a:r>
              <a:t>4 运行参数：网络、CPU、内存、进程数、超时、用户，这些也会影响结果（对应平台需求 P-12）。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本页解释标签与 digest 的差别。E3 构建日志给出了 Python 基础镜像 digest；E4 模板继续固定这个 digest。试用 ECS 直连 Docker Hub 超时，A、B 组已改从镜像站读取同一 digest；B 组还固定了 Docker 客户端镜像。课堂核验命令和完整地址见各组命令手册第 4 节。E2 契约规则 6 要求 image_ref 记录不可变 digest。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系统包（apt）很难逐个锁版本：Debian 源会下架旧版本。做法是构建时导出实际版本到 /opt/toolchain.lock，make build 会把它取出来放进证据目录。</a:t>
            </a:r>
          </a:p>
          <a:p>
            <a:r>
              <a:t>Python 包：requirements-dev.in 只写直接依赖，make lock 用 uv 生成带哈希的 requirements-dev.lock，安装时 --require-hashes，哈希不符就安装失败。</a:t>
            </a:r>
          </a:p>
          <a:p>
            <a:r>
              <a:t>B 组的 docker 命令行从官方 docker:cli 镜像复制，同样按 digest 固定。</a:t>
            </a:r>
          </a:p>
          <a:p>
            <a:r>
              <a:t>被测项目：永远用完整 40 位 SHA，不用分支名。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对照 E3 的 Dockerfile.lab 讲差异。</a:t>
            </a:r>
          </a:p>
          <a:p>
            <a:r>
              <a:t>dpkg-query 这一行把镜像里实际装上的版本写进 /opt/toolchain.lock。</a:t>
            </a:r>
          </a:p>
          <a:p>
            <a:r>
              <a:t>“先建用户和 /app 再复制”：WORKDIR 以 root 身份创建 /app，COPY --chown 只改被复制的文件，不改 /app 本身；不先处理的话，以 app 用户运行时无法在 /app 下写文件。</a:t>
            </a:r>
          </a:p>
          <a:p>
            <a:r>
              <a:t>B 组的 Dockerfile 不装编译器和 strace，而是从 docker:cli 镜像复制 docker 命令行（见后面 B 组部分）。</a:t>
            </a:r>
          </a:p>
          <a:p>
            <a:r>
              <a:t>.dockerignore 排除 .env、work、.git，密钥和旧证据不会被 COPY 进镜像。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对应平台需求 P-12：任务要有超时和资源限制。超时由 Makefile 的 timeout 命令控制。</a:t>
            </a:r>
          </a:p>
          <a:p>
            <a:r>
              <a:t>A 组：检测只读本地文件，不需要网络；strace 依赖 ptrace，加 SYS_PTRACE 更稳妥。</a:t>
            </a:r>
          </a:p>
          <a:p>
            <a:r>
              <a:t>B 组：挂载 docker.sock、加入它的用户组，并通过 env_file 在运行时注入自己的 API Key。下一页专门讲为什么。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问题来源：DRAFT 要反复执行 docker build；课程项目设计 P-15 要求每个服务都能容器构建和部署。容器里默认没有 Docker 引擎，也没有权限自己启动一个。</a:t>
            </a:r>
          </a:p>
          <a:p>
            <a:r>
              <a:t>解决：把宿主机 Docker 的入口 /var/run/docker.sock 挂进容器。容器里只有 docker 命令行（客户端），它把请求发给宿主机的 Docker 引擎执行。</a:t>
            </a:r>
          </a:p>
          <a:p>
            <a:r>
              <a:t>论文：DRAFT 论文第 4.1 节只写了实验在一台 Ubuntu 22.04 服务器上进行，DRAFT 直接运行在服务器上，没有把自己容器化，也没有讨论这个问题。</a:t>
            </a:r>
          </a:p>
          <a:p>
            <a:r>
              <a:t>所以这是课程做法与论文做法的差异，B 组要写进 E5 的差异记录。</a:t>
            </a:r>
          </a:p>
          <a:p>
            <a:r>
              <a:t>另一种做法是 Docker in Docker（docker:dind，需要特权模式），配置更复杂，本课程不采用。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第一步：镜像里从固定 digest 的 docker:28.5.1-cli 镜像复制客户端和 buildx 插件，不装第二套 Docker 引擎。第二步：compose.yaml 把宿主机 /var/run/docker.sock 挂入容器。第三步：Makefile 取得 docker.sock 的组号，compose 的 group_add 把它加给 app 用户。第四、五步：make smoke 以默认 app 用户先运行 docker version，能读到 Server 版本后再构建 Dockerfile.broken。试用 ECS 实测 docker-cli=28.5.1、宿主机 Server=29.1.3，预期失败被识别为 passed: true。make shell 在当前 root 登录服务器上会覆盖为 root 用户，不用它验证 app 用户权限。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风险逐条讲：</a:t>
            </a:r>
          </a:p>
          <a:p>
            <a:r>
              <a:t>1 通过 docker.sock 可以启动特权容器、挂载宿主机任意目录，因此等同 root。</a:t>
            </a:r>
          </a:p>
          <a:p>
            <a:r>
              <a:t>2 可以删除服务器上任何镜像和容器，包括组员的。</a:t>
            </a:r>
          </a:p>
          <a:p>
            <a:r>
              <a:t>3 compose 中的 cpus、mem_limit 只限制 DRAFT 容器本身；它让宿主机执行的 docker build 不受这些限制，镜像和构建缓存占用宿主机磁盘。</a:t>
            </a:r>
          </a:p>
          <a:p>
            <a:r>
              <a:t>4 被构建项目的 Dockerfile 如果是恶意的，影响的是宿主机。</a:t>
            </a:r>
          </a:p>
          <a:p>
            <a:r>
              <a:t>5 在容器里执行 docker run -v 时，路径是宿主机上的路径，不是容器里的路径。</a:t>
            </a:r>
          </a:p>
          <a:p>
            <a:r>
              <a:t>本课程的约束：每组独占一台服务器，风险只在本组内；只构建课程指定的项目；构建设置超时；E6 起每次构建用唯一镜像名并及时清理；安全组不开放 2375/2376。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课程不提供统一的 LLM API，后面 DRAFT、MDFixer 需要时各组使用自己的 API Key，今天先把规则定下来。</a:t>
            </a:r>
          </a:p>
          <a:p>
            <a:r>
              <a:t>ARG 和 ENV 的值会留在镜像元数据或历史里，docker history 就能看到。</a:t>
            </a:r>
          </a:p>
          <a:p>
            <a:r>
              <a:t>构建阶段确实需要密钥时用 BuildKit 的 --secret，它不会进入镜像层。</a:t>
            </a:r>
          </a:p>
          <a:p>
            <a:r>
              <a:t>服务器账号是组员共用的，.env 放在自己的工作目录并设为 600 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现场演示：在一个临时仓库里 git add 一个带假 Key 的 .env，运行 make scan 看它报错，然后恢复。</a:t>
            </a:r>
          </a:p>
          <a:p>
            <a:r>
              <a:t>强调：Key 一旦推送到远端，就要当作已经泄露，第一步是到服务商处作废并重新申请，而不是改历史。</a:t>
            </a:r>
          </a:p>
          <a:p>
            <a:r>
              <a:t>secret_scan.py 输出只显示前 4 位，避免检查本身再泄露一次。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一键命令的意义：别人不需要读懂所有细节，也能用同样的步骤得到同样的证据。</a:t>
            </a:r>
          </a:p>
          <a:p>
            <a:r>
              <a:t>make test 跑的是本组自己的单元测试（pytest），不是 E3 的脚本；E5 之后每写一个功能就补测试。</a:t>
            </a:r>
          </a:p>
          <a:p>
            <a:r>
              <a:t>make shell 进入服务容器，并把仓库的 work/ 挂到容器的 /app/work，E5 在容器里保存的记录退出后仍然保留。</a:t>
            </a:r>
          </a:p>
          <a:p>
            <a:r>
              <a:t>make lock：修改 requirements-dev.in 后重新生成带哈希的锁文件。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组 smoke 用 strace 跟踪 md-rd 的 make，只检查能看到 config.h 被打开。B 组 smoke 以 app 用户通过宿主机 Docker 构建 Dockerfile.broken，先记录 Server 版本，再确认构建因缺少 make 而失败。smoke.json 保留退出码、末尾 8 行和单独的 make_error_line；末尾 8 行不一定包含关键报错。E4 只验证链路，E5 在同一镜像下重新执行并保存完整原始构建日志及退出码。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第一步：组长把本组 A 或 B 模板放进本组 Git 仓库，检查没有 .env 和旧证据后提交。第二步：学生用老师私发的账号与公网 IP 登录，在学号目录克隆本组仓库，在自己的克隆里设 Git 身份，再运行 make doctor。第三步：记录 build.log 中的基础镜像 digest、image.json 的镜像 ID 与 toolchain.lock。第五步：用假 Key 验证扫描能报错后清理，命令见手册。第六步：由另一名组员独立克隆重跑并对照；镜像 ID 可能不同，重点检查工具版本与测试结论。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提交方式沿用 E2/E3 的约定：仓库地址 + 提交 SHA + 证据目录。work/ 默认不提交，用 git add -f 挑选需要的证据目录。</a:t>
            </a:r>
          </a:p>
          <a:p>
            <a:r>
              <a:t>评分权重和截止时间以教师发布为准。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相互检查：相邻两组交换仓库地址，只看 README 尝试重跑，并检查提交作者是否都是学号。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教师或助教先确认服务器是 Ubuntu 22.04/24.04、轮换初始凭据；已有 Docker 时可跳过初始化脚本。docker version、docker compose version 和 docker buildx version 只检查工具，不证明基础镜像能下载。试用 ECS 直连 Docker Hub 超时，A、B 组已在镜像站核对同一固定 digest，并各用两个模拟学生克隆完成实机 make all。Docker 组权限很高，不开放 2375/2376 Docker API 端口。完整课前检查见各组命令手册。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A-buildchecker 与 B-draft 结构相同，区别在服务代码、Dockerfile 与 compose。</a:t>
            </a:r>
          </a:p>
          <a:p>
            <a:r>
              <a:t>fixtures 中的样例直接取自 E3 实验包，只保留源码，删除了 E3 包里残留的本机编译产物。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 组容器内 permission denied：通常是直接运行了 docker compose 而没有经过 make，DOCKER_GID 没有设置。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"/>
          <p:cNvPicPr>
            <a:picLocks noChangeAspect="1"/>
          </p:cNvPicPr>
          <p:nvPr/>
        </p:nvPicPr>
        <p:blipFill rotWithShape="1">
          <a:blip r:embed="rId2"/>
          <a:srcRect r="39086"/>
          <a:stretch>
            <a:fillRect/>
          </a:stretch>
        </p:blipFill>
        <p:spPr>
          <a:xfrm>
            <a:off x="-268605" y="-464820"/>
            <a:ext cx="2005965" cy="2175510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C8BE04-13EA-42B3-BE56-27B498E13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E070D7-1CDE-4026-B976-A74B1FB06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550C15-2371-4FAC-8275-899B6772E44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DFB9C5-8D56-46A1-816A-61736C5F10A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C97FCF-F9F3-44C7-856E-6E9A723941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3D2317-0D0F-4950-870A-B63F64CA2D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3073B2-1883-4E13-963D-704B108306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F26CC0-ED2F-43DF-A2E4-4760AA99FC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24554B6-98A7-4314-943C-C90F2CE2F0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marL="0" marR="0" algn="ctr" defTabSz="914400">
              <a:lnSpc>
                <a:spcPct val="100000"/>
              </a:lnSpc>
              <a:buNone/>
              <a:defRPr sz="6000" b="1" i="0" u="none" kern="1200" cap="none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0355EC9-E402-4505-B636-C2790306513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B98C22A-E468-4BE0-9BAF-197494CF1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E14C27-DD54-4448-A600-1ADE453CA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FDF601-8D2C-462D-927E-87BAFBB6572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555797-90D9-4359-9607-15269CA527E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D87483-D5A3-4E76-976D-891E197ADD6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2615" y="-1282700"/>
            <a:ext cx="4442460" cy="4099560"/>
          </a:xfrm>
          <a:prstGeom prst="rect">
            <a:avLst/>
          </a:prstGeom>
        </p:spPr>
      </p:pic>
      <p:pic>
        <p:nvPicPr>
          <p:cNvPr id="36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51230" y="3771900"/>
            <a:ext cx="3503930" cy="3232785"/>
          </a:xfrm>
          <a:prstGeom prst="rect">
            <a:avLst/>
          </a:prstGeom>
        </p:spPr>
      </p:pic>
      <p:pic>
        <p:nvPicPr>
          <p:cNvPr id="37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970" y="5332730"/>
            <a:ext cx="4865370" cy="1885950"/>
          </a:xfrm>
          <a:prstGeom prst="rect">
            <a:avLst/>
          </a:prstGeom>
        </p:spPr>
      </p:pic>
      <p:pic>
        <p:nvPicPr>
          <p:cNvPr id="38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907530" y="5332730"/>
            <a:ext cx="4865370" cy="1885950"/>
          </a:xfrm>
          <a:prstGeom prst="rect">
            <a:avLst/>
          </a:prstGeom>
        </p:spPr>
      </p:pic>
      <p:pic>
        <p:nvPicPr>
          <p:cNvPr id="39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988560"/>
            <a:ext cx="12233910" cy="1869440"/>
          </a:xfrm>
          <a:prstGeom prst="rect">
            <a:avLst/>
          </a:prstGeom>
        </p:spPr>
      </p:pic>
      <p:pic>
        <p:nvPicPr>
          <p:cNvPr id="40" name="图片 3"/>
          <p:cNvPicPr>
            <a:picLocks noChangeAspect="1"/>
          </p:cNvPicPr>
          <p:nvPr/>
        </p:nvPicPr>
        <p:blipFill rotWithShape="1">
          <a:blip r:embed="rId7"/>
          <a:srcRect l="16598" r="41371" b="32186"/>
          <a:stretch>
            <a:fillRect/>
          </a:stretch>
        </p:blipFill>
        <p:spPr>
          <a:xfrm>
            <a:off x="5102455" y="-988999"/>
            <a:ext cx="2341396" cy="2408268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656F6949-C29B-47B0-B94D-9A438B5053FC}"/>
              </a:ext>
            </a:extLst>
          </p:cNvPr>
          <p:cNvSpPr>
            <a:spLocks noGrp="1"/>
          </p:cNvSpPr>
          <p:nvPr/>
        </p:nvSpPr>
        <p:spPr>
          <a:xfrm>
            <a:off x="1333500" y="2943225"/>
            <a:ext cx="95250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8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38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E4 可重复工程环境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00C7F3E-04C8-4CEB-9B86-F466B0594FB7}"/>
              </a:ext>
            </a:extLst>
          </p:cNvPr>
          <p:cNvSpPr>
            <a:spLocks noGrp="1"/>
          </p:cNvSpPr>
          <p:nvPr/>
        </p:nvSpPr>
        <p:spPr>
          <a:xfrm>
            <a:off x="3524250" y="4038600"/>
            <a:ext cx="5143500" cy="12941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DevOps 教学实验</a:t>
            </a:r>
          </a:p>
          <a:p>
            <a:pPr algn="ctr">
              <a:buNone/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>
                <a:latin typeface="微软雅黑"/>
                <a:ea typeface="微软雅黑"/>
                <a:cs typeface="微软雅黑"/>
              </a:rPr>
              <a:t>教师：吕骏</a:t>
            </a:r>
            <a:endParaRPr>
              <a:solidFill>
                <a:srgbClr val="B88F4D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buNone/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助教：刘泽楷</a:t>
            </a:r>
          </a:p>
        </p:txBody>
      </p:sp>
    </p:spTree>
    <p:extLst>
      <p:ext uri="{BB962C8B-B14F-4D97-AF65-F5344CB8AC3E}">
        <p14:creationId xmlns:p14="http://schemas.microsoft.com/office/powerpoint/2010/main" val="1353043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3E009B-132B-4397-B285-E1DCDA6FFF03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本次实验做什么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6B1DE1-C136-41B3-99FE-62B8665F904C}"/>
              </a:ext>
            </a:extLst>
          </p:cNvPr>
          <p:cNvSpPr>
            <a:spLocks noGrp="1"/>
          </p:cNvSpPr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是工程骨架的最后一步：让本组的服务仓库在任何组员手里都能一键构建、测试、留证据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69B425-08D1-4418-9ED7-779B8E576558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75C02-922B-4669-A41A-646E88A8A2D9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91B1FF-8947-4863-9820-E9C5FB2933F6}"/>
              </a:ext>
            </a:extLst>
          </p:cNvPr>
          <p:cNvSpPr>
            <a:spLocks noGrp="1"/>
          </p:cNvSpPr>
          <p:nvPr/>
        </p:nvSpPr>
        <p:spPr>
          <a:xfrm>
            <a:off x="758952" y="2697480"/>
            <a:ext cx="52989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95C789-3F26-4149-9183-28E3B4D55DBA}"/>
              </a:ext>
            </a:extLst>
          </p:cNvPr>
          <p:cNvSpPr>
            <a:spLocks noGrp="1"/>
          </p:cNvSpPr>
          <p:nvPr/>
        </p:nvSpPr>
        <p:spPr>
          <a:xfrm>
            <a:off x="1014983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本次目标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9C95EA-4B2F-405E-9FF3-F90888A0F258}"/>
              </a:ext>
            </a:extLst>
          </p:cNvPr>
          <p:cNvSpPr>
            <a:spLocks noGrp="1"/>
          </p:cNvSpPr>
          <p:nvPr/>
        </p:nvSpPr>
        <p:spPr>
          <a:xfrm>
            <a:off x="1014983" y="3520440"/>
            <a:ext cx="4841748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本组服务仓库可重复构建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一条命令完成构建、测试、留证据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密钥不进仓库、镜像和日志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E5—E14 都在这个环境中进行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046CC3-D96E-4F0E-8EEB-EE17C7A3BDF3}"/>
              </a:ext>
            </a:extLst>
          </p:cNvPr>
          <p:cNvSpPr>
            <a:spLocks noGrp="1"/>
          </p:cNvSpPr>
          <p:nvPr/>
        </p:nvSpPr>
        <p:spPr>
          <a:xfrm>
            <a:off x="6515100" y="2697480"/>
            <a:ext cx="52989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EA2B71-1D59-47E7-8EBF-F7BA991824C5}"/>
              </a:ext>
            </a:extLst>
          </p:cNvPr>
          <p:cNvSpPr>
            <a:spLocks noGrp="1"/>
          </p:cNvSpPr>
          <p:nvPr/>
        </p:nvSpPr>
        <p:spPr>
          <a:xfrm>
            <a:off x="6771132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最低交付（实验表）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D97972-1189-4574-A4C8-E5425E5EC57F}"/>
              </a:ext>
            </a:extLst>
          </p:cNvPr>
          <p:cNvSpPr>
            <a:spLocks noGrp="1"/>
          </p:cNvSpPr>
          <p:nvPr/>
        </p:nvSpPr>
        <p:spPr>
          <a:xfrm>
            <a:off x="6771132" y="3520440"/>
            <a:ext cx="4841748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服务镜像、Compose 与构建日志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依赖锁文件与工具版本清单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单元测试与冒烟测试日志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密钥检查通过的记录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组员重跑的对照结果</a:t>
            </a:r>
          </a:p>
        </p:txBody>
      </p:sp>
    </p:spTree>
    <p:extLst>
      <p:ext uri="{BB962C8B-B14F-4D97-AF65-F5344CB8AC3E}">
        <p14:creationId xmlns:p14="http://schemas.microsoft.com/office/powerpoint/2010/main" val="1686050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442140-8263-4818-825D-DF5868AF8A8A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可重复环境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0E558-5FD4-45E7-A285-7F922409FCFB}"/>
              </a:ext>
            </a:extLst>
          </p:cNvPr>
          <p:cNvSpPr>
            <a:spLocks noGrp="1"/>
          </p:cNvSpPr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后面每个实验都要在“别人的机器、以后的时间”得到同样结果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B35C98-0DC1-489F-B4F4-CE6BA445ADE4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00FF2-F928-4B06-A33C-DBC29AF0B960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5F6541-66D1-42B0-B555-93121D6A9C5B}"/>
              </a:ext>
            </a:extLst>
          </p:cNvPr>
          <p:cNvSpPr>
            <a:spLocks noGrp="1"/>
          </p:cNvSpPr>
          <p:nvPr/>
        </p:nvSpPr>
        <p:spPr>
          <a:xfrm>
            <a:off x="758952" y="2697480"/>
            <a:ext cx="52989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A8269C-5191-4C9C-87A0-537C90D4DDBD}"/>
              </a:ext>
            </a:extLst>
          </p:cNvPr>
          <p:cNvSpPr>
            <a:spLocks noGrp="1"/>
          </p:cNvSpPr>
          <p:nvPr/>
        </p:nvSpPr>
        <p:spPr>
          <a:xfrm>
            <a:off x="1014983" y="2926080"/>
            <a:ext cx="4841748" cy="4154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后面每一步都在环境里跑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36C218-9039-4EE3-9F82-BD4BE61ACFF7}"/>
              </a:ext>
            </a:extLst>
          </p:cNvPr>
          <p:cNvSpPr>
            <a:spLocks noGrp="1"/>
          </p:cNvSpPr>
          <p:nvPr/>
        </p:nvSpPr>
        <p:spPr>
          <a:xfrm>
            <a:off x="1014983" y="3520440"/>
            <a:ext cx="4841748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E5：在容器里跟踪构建、执行构建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E6—E7：MVP、单元测试、CI 门禁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E12：A/B 交换真实产物联调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E14：发布候选版本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8252CF-E98C-4A52-B580-9E64E069F5DC}"/>
              </a:ext>
            </a:extLst>
          </p:cNvPr>
          <p:cNvSpPr>
            <a:spLocks noGrp="1"/>
          </p:cNvSpPr>
          <p:nvPr/>
        </p:nvSpPr>
        <p:spPr>
          <a:xfrm>
            <a:off x="6515100" y="2697480"/>
            <a:ext cx="52989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117735-9635-4F92-99F9-691B18DC5891}"/>
              </a:ext>
            </a:extLst>
          </p:cNvPr>
          <p:cNvSpPr>
            <a:spLocks noGrp="1"/>
          </p:cNvSpPr>
          <p:nvPr/>
        </p:nvSpPr>
        <p:spPr>
          <a:xfrm>
            <a:off x="6771132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论文里的教训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4F48FE-C662-4B0D-A017-A98E5E800829}"/>
              </a:ext>
            </a:extLst>
          </p:cNvPr>
          <p:cNvSpPr>
            <a:spLocks noGrp="1"/>
          </p:cNvSpPr>
          <p:nvPr/>
        </p:nvSpPr>
        <p:spPr>
          <a:xfrm>
            <a:off x="6771132" y="3520440"/>
            <a:ext cx="4405885" cy="143116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超过 1/3 的 Dockerfile 构建失败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DRAFT 失败案例：apt 源信息变化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同一 commit 换环境，依赖图可能不同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课程要求：服务能在其他同学机器运行</a:t>
            </a:r>
          </a:p>
        </p:txBody>
      </p:sp>
    </p:spTree>
    <p:extLst>
      <p:ext uri="{BB962C8B-B14F-4D97-AF65-F5344CB8AC3E}">
        <p14:creationId xmlns:p14="http://schemas.microsoft.com/office/powerpoint/2010/main" val="1912897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16002C-093C-48C9-A423-B9B79B37CA7A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E4 做完后，仓库是什么样子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626B96-6276-4609-9837-A1A8CFCF2F27}"/>
              </a:ext>
            </a:extLst>
          </p:cNvPr>
          <p:cNvSpPr>
            <a:spLocks noGrp="1"/>
          </p:cNvSpPr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A、B 两组各有一份模板；组长确认本组仓库已就绪，后续在 services/ 下开发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39FCC5-B399-4353-91E8-9834274A91F4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5BBAA-E372-420B-831F-298378B4B160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882836-A26A-410F-8CA5-229C32EE2A58}"/>
              </a:ext>
            </a:extLst>
          </p:cNvPr>
          <p:cNvSpPr>
            <a:spLocks noGrp="1"/>
          </p:cNvSpPr>
          <p:nvPr/>
        </p:nvSpPr>
        <p:spPr>
          <a:xfrm>
            <a:off x="621792" y="2587752"/>
            <a:ext cx="6949440" cy="3566160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9F0A6-5429-49FF-855B-E102DDE89F4E}"/>
              </a:ext>
            </a:extLst>
          </p:cNvPr>
          <p:cNvSpPr>
            <a:spLocks noGrp="1"/>
          </p:cNvSpPr>
          <p:nvPr/>
        </p:nvSpPr>
        <p:spPr>
          <a:xfrm>
            <a:off x="804672" y="2752344"/>
            <a:ext cx="6629400" cy="3291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本组仓库/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services/buildchecker/     # B 组：services/draft/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Dockerfile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buildchecker/            # 服务代码：cli.py、smoke.py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tests/                   # 单元测试（pytest）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fixtures/md-rd/            # E3 样例，用于冒烟测试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compose.yaml               # 运行限制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Makefile                   # 一键命令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requirements-dev.in / .lock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.env.example  .gitignore  .dockerignore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scripts/doctor.py  secret_scan.py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work/&lt;时间&gt;/               # 每次运行的证据，不进仓库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4F52C4-DB35-460D-B777-729D129B3A9E}"/>
              </a:ext>
            </a:extLst>
          </p:cNvPr>
          <p:cNvSpPr>
            <a:spLocks noGrp="1"/>
          </p:cNvSpPr>
          <p:nvPr/>
        </p:nvSpPr>
        <p:spPr>
          <a:xfrm>
            <a:off x="7936992" y="2679192"/>
            <a:ext cx="372160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C34E3F-D461-4863-B078-D55FF7A92345}"/>
              </a:ext>
            </a:extLst>
          </p:cNvPr>
          <p:cNvSpPr>
            <a:spLocks noGrp="1"/>
          </p:cNvSpPr>
          <p:nvPr/>
        </p:nvSpPr>
        <p:spPr>
          <a:xfrm>
            <a:off x="7936992" y="3364992"/>
            <a:ext cx="3721608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结构与课程项目设计附录 A 一致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E4 只建骨架：CLI + 单元测试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E3 样例只做冒烟测试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work/ 存个人运行证据；E4 不要求提交</a:t>
            </a:r>
          </a:p>
        </p:txBody>
      </p:sp>
    </p:spTree>
    <p:extLst>
      <p:ext uri="{BB962C8B-B14F-4D97-AF65-F5344CB8AC3E}">
        <p14:creationId xmlns:p14="http://schemas.microsoft.com/office/powerpoint/2010/main" val="1812127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E4661D-44DA-40A3-92B1-95174D4695DC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服务器与学号目录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0FCE9E-4B10-47EC-8BC6-EF7B33429F9F}"/>
              </a:ext>
            </a:extLst>
          </p:cNvPr>
          <p:cNvSpPr>
            <a:spLocks noGrp="1"/>
          </p:cNvSpPr>
          <p:nvPr/>
        </p:nvSpPr>
        <p:spPr>
          <a:xfrm>
            <a:off x="530352" y="1837943"/>
            <a:ext cx="111282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苏州每组一台阿里云服务器；每人在学号目录独立运行 E4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B8A1B3-9C91-4163-8DFA-9158B99F8B88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E3A6BC-F263-401E-A413-9BE7EF9D9C43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16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79EF14-4A94-4289-8555-C64A355C09CB}"/>
              </a:ext>
            </a:extLst>
          </p:cNvPr>
          <p:cNvSpPr>
            <a:spLocks noGrp="1"/>
          </p:cNvSpPr>
          <p:nvPr/>
        </p:nvSpPr>
        <p:spPr>
          <a:xfrm>
            <a:off x="621792" y="2587752"/>
            <a:ext cx="6839712" cy="3566160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BEDB26-8432-4D5B-9FC7-5357F2C3AED9}"/>
              </a:ext>
            </a:extLst>
          </p:cNvPr>
          <p:cNvSpPr>
            <a:spLocks noGrp="1"/>
          </p:cNvSpPr>
          <p:nvPr/>
        </p:nvSpPr>
        <p:spPr>
          <a:xfrm>
            <a:off x="804672" y="2752344"/>
            <a:ext cx="6519672" cy="2560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 dirty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</a:t>
            </a:r>
            <a:r>
              <a:rPr lang="en-US" sz="1350" b="0" dirty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350" b="0" dirty="0" err="1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登录后，每人一个目录</a:t>
            </a:r>
            <a:endParaRPr sz="1350" b="0" dirty="0">
              <a:solidFill>
                <a:srgbClr val="1C274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 dirty="0" err="1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mkdir</a:t>
            </a:r>
            <a:r>
              <a:rPr sz="1350" b="0" dirty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-p ~/&lt;</a:t>
            </a:r>
            <a:r>
              <a:rPr sz="1350" b="0" dirty="0" err="1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学号</a:t>
            </a:r>
            <a:r>
              <a:rPr sz="1350" b="0" dirty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&gt; &amp;&amp; cd ~/&lt;</a:t>
            </a:r>
            <a:r>
              <a:rPr sz="1350" b="0" dirty="0" err="1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学号</a:t>
            </a:r>
            <a:r>
              <a:rPr sz="1350" b="0" dirty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 dirty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git clone &lt;</a:t>
            </a:r>
            <a:r>
              <a:rPr sz="1350" b="0" dirty="0" err="1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本组仓库地址</a:t>
            </a:r>
            <a:r>
              <a:rPr sz="1350" b="0" dirty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 dirty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cd &lt;</a:t>
            </a:r>
            <a:r>
              <a:rPr sz="1350" b="0" dirty="0" err="1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仓库</a:t>
            </a:r>
            <a:r>
              <a:rPr sz="1350" b="0" dirty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endParaRPr sz="1350" b="0" dirty="0">
              <a:solidFill>
                <a:srgbClr val="1C274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 dirty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350" b="0" dirty="0" err="1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只对本仓库生效，不要加</a:t>
            </a:r>
            <a:r>
              <a:rPr sz="1350" b="0" dirty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--global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 dirty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git config user.name  "&lt;</a:t>
            </a:r>
            <a:r>
              <a:rPr sz="1350" b="0" dirty="0" err="1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学号</a:t>
            </a:r>
            <a:r>
              <a:rPr sz="1350" b="0" dirty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&gt;"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 dirty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git config </a:t>
            </a:r>
            <a:r>
              <a:rPr sz="1350" b="0" dirty="0" err="1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user.email</a:t>
            </a:r>
            <a:r>
              <a:rPr sz="1350" b="0" dirty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"&lt;</a:t>
            </a:r>
            <a:r>
              <a:rPr sz="1350" b="0" dirty="0" err="1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学号邮箱</a:t>
            </a:r>
            <a:r>
              <a:rPr sz="1350" b="0" dirty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&gt;"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endParaRPr sz="1350" b="0" dirty="0">
              <a:solidFill>
                <a:srgbClr val="1C274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 dirty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 </a:t>
            </a:r>
            <a:r>
              <a:rPr sz="1350" b="0" dirty="0" err="1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检查</a:t>
            </a:r>
            <a:endParaRPr sz="1350" b="0" dirty="0">
              <a:solidFill>
                <a:srgbClr val="1C274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 dirty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git config user.name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 dirty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make doctor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20A6FC-ED89-45F0-B8EE-463931C0E335}"/>
              </a:ext>
            </a:extLst>
          </p:cNvPr>
          <p:cNvSpPr>
            <a:spLocks noGrp="1"/>
          </p:cNvSpPr>
          <p:nvPr/>
        </p:nvSpPr>
        <p:spPr>
          <a:xfrm>
            <a:off x="7827264" y="2679192"/>
            <a:ext cx="383133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054E3-C516-4E5C-8623-573EE21A7413}"/>
              </a:ext>
            </a:extLst>
          </p:cNvPr>
          <p:cNvSpPr>
            <a:spLocks noGrp="1"/>
          </p:cNvSpPr>
          <p:nvPr/>
        </p:nvSpPr>
        <p:spPr>
          <a:xfrm>
            <a:off x="7827264" y="3364992"/>
            <a:ext cx="3831335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登录账号是组员共用的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--global 会被所有人共享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本地 Git 身份设为学号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镜像名带学号，互不覆盖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E4 不要求个人 Git 提交</a:t>
            </a:r>
          </a:p>
        </p:txBody>
      </p:sp>
    </p:spTree>
    <p:extLst>
      <p:ext uri="{BB962C8B-B14F-4D97-AF65-F5344CB8AC3E}">
        <p14:creationId xmlns:p14="http://schemas.microsoft.com/office/powerpoint/2010/main" val="1493601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6F9E66-ECC6-4B9C-838F-7338F2356906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可重复要固定哪四层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A57A2B-7F1F-4C46-9CC0-6EA30E991CC6}"/>
              </a:ext>
            </a:extLst>
          </p:cNvPr>
          <p:cNvSpPr>
            <a:spLocks noGrp="1"/>
          </p:cNvSpPr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从外到内，每一层都要留下记录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9D4ADA-499B-480B-940F-77C94BC9F7CC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850C7-AB05-4FC5-A6F5-1186E3438A89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16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2EABF2-0C01-4DC0-B075-B9C2098B8689}"/>
              </a:ext>
            </a:extLst>
          </p:cNvPr>
          <p:cNvSpPr>
            <a:spLocks noGrp="1"/>
          </p:cNvSpPr>
          <p:nvPr/>
        </p:nvSpPr>
        <p:spPr>
          <a:xfrm>
            <a:off x="530352" y="2798063"/>
            <a:ext cx="2475738" cy="2103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636E7C-0596-496E-9A44-B7808740367B}"/>
              </a:ext>
            </a:extLst>
          </p:cNvPr>
          <p:cNvSpPr>
            <a:spLocks noGrp="1"/>
          </p:cNvSpPr>
          <p:nvPr/>
        </p:nvSpPr>
        <p:spPr>
          <a:xfrm>
            <a:off x="640080" y="2962655"/>
            <a:ext cx="225628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服务器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C9F358-A3FA-4FF6-96D2-71E9E8B7575D}"/>
              </a:ext>
            </a:extLst>
          </p:cNvPr>
          <p:cNvSpPr>
            <a:spLocks noGrp="1"/>
          </p:cNvSpPr>
          <p:nvPr/>
        </p:nvSpPr>
        <p:spPr>
          <a:xfrm>
            <a:off x="640080" y="3511295"/>
            <a:ext cx="2256282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系统与架构</a:t>
            </a:r>
          </a:p>
          <a:p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 版本</a:t>
            </a:r>
          </a:p>
          <a:p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→ env.json</a:t>
            </a:r>
          </a:p>
        </p:txBody>
      </p:sp>
      <p:sp>
        <p:nvSpPr>
          <p:cNvPr id="9" name="Connector 8">
            <a:extLst>
              <a:ext uri="{FF2B5EF4-FFF2-40B4-BE49-F238E27FC236}">
                <a16:creationId xmlns:a16="http://schemas.microsoft.com/office/drawing/2014/main" id="{4FB1CB16-417A-41D0-B937-67279823EC50}"/>
              </a:ext>
            </a:extLst>
          </p:cNvPr>
          <p:cNvSpPr>
            <a:spLocks noGrp="1"/>
          </p:cNvSpPr>
          <p:nvPr/>
        </p:nvSpPr>
        <p:spPr>
          <a:xfrm>
            <a:off x="3051810" y="3849623"/>
            <a:ext cx="292608" cy="0"/>
          </a:xfrm>
          <a:prstGeom prst="line">
            <a:avLst/>
          </a:prstGeom>
          <a:ln w="25400">
            <a:solidFill>
              <a:srgbClr val="BD8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050A22-77BD-42BF-BEEC-B5C5BC537B65}"/>
              </a:ext>
            </a:extLst>
          </p:cNvPr>
          <p:cNvSpPr>
            <a:spLocks noGrp="1"/>
          </p:cNvSpPr>
          <p:nvPr/>
        </p:nvSpPr>
        <p:spPr>
          <a:xfrm>
            <a:off x="3390138" y="2798063"/>
            <a:ext cx="2475738" cy="2103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152C41-A6ED-42B4-93FC-EA2050D23CFF}"/>
              </a:ext>
            </a:extLst>
          </p:cNvPr>
          <p:cNvSpPr>
            <a:spLocks noGrp="1"/>
          </p:cNvSpPr>
          <p:nvPr/>
        </p:nvSpPr>
        <p:spPr>
          <a:xfrm>
            <a:off x="3499865" y="2962655"/>
            <a:ext cx="225628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基础镜像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1E7857-C4A4-43C3-8D58-7F894B10F37C}"/>
              </a:ext>
            </a:extLst>
          </p:cNvPr>
          <p:cNvSpPr>
            <a:spLocks noGrp="1"/>
          </p:cNvSpPr>
          <p:nvPr/>
        </p:nvSpPr>
        <p:spPr>
          <a:xfrm>
            <a:off x="3499865" y="3511295"/>
            <a:ext cx="2256282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标签换成 digest</a:t>
            </a:r>
          </a:p>
          <a:p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升级只改一行</a:t>
            </a:r>
          </a:p>
          <a:p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→ build.log</a:t>
            </a:r>
          </a:p>
        </p:txBody>
      </p:sp>
      <p:sp>
        <p:nvSpPr>
          <p:cNvPr id="13" name="Connector 12">
            <a:extLst>
              <a:ext uri="{FF2B5EF4-FFF2-40B4-BE49-F238E27FC236}">
                <a16:creationId xmlns:a16="http://schemas.microsoft.com/office/drawing/2014/main" id="{79CEB316-4148-4FFF-8DF6-A734EB2B8660}"/>
              </a:ext>
            </a:extLst>
          </p:cNvPr>
          <p:cNvSpPr>
            <a:spLocks noGrp="1"/>
          </p:cNvSpPr>
          <p:nvPr/>
        </p:nvSpPr>
        <p:spPr>
          <a:xfrm>
            <a:off x="5911596" y="3849623"/>
            <a:ext cx="292608" cy="0"/>
          </a:xfrm>
          <a:prstGeom prst="line">
            <a:avLst/>
          </a:prstGeom>
          <a:ln w="25400">
            <a:solidFill>
              <a:srgbClr val="BD8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915ACB-CCF7-4B6D-9D1B-A7686E650EFD}"/>
              </a:ext>
            </a:extLst>
          </p:cNvPr>
          <p:cNvSpPr>
            <a:spLocks noGrp="1"/>
          </p:cNvSpPr>
          <p:nvPr/>
        </p:nvSpPr>
        <p:spPr>
          <a:xfrm>
            <a:off x="6249924" y="2798063"/>
            <a:ext cx="2475738" cy="2103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573EE2-60BA-4A6D-9F6A-6EE4C01CB04E}"/>
              </a:ext>
            </a:extLst>
          </p:cNvPr>
          <p:cNvSpPr>
            <a:spLocks noGrp="1"/>
          </p:cNvSpPr>
          <p:nvPr/>
        </p:nvSpPr>
        <p:spPr>
          <a:xfrm>
            <a:off x="6359652" y="2962655"/>
            <a:ext cx="225628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依赖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AA3D54-182B-48DB-85F7-3979E5B16A92}"/>
              </a:ext>
            </a:extLst>
          </p:cNvPr>
          <p:cNvSpPr>
            <a:spLocks noGrp="1"/>
          </p:cNvSpPr>
          <p:nvPr/>
        </p:nvSpPr>
        <p:spPr>
          <a:xfrm>
            <a:off x="6359652" y="3511295"/>
            <a:ext cx="2256282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锁文件 + 哈希</a:t>
            </a:r>
          </a:p>
          <a:p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工具版本清单</a:t>
            </a:r>
          </a:p>
          <a:p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→ toolchain.lock</a:t>
            </a:r>
          </a:p>
        </p:txBody>
      </p:sp>
      <p:sp>
        <p:nvSpPr>
          <p:cNvPr id="17" name="Connector 16">
            <a:extLst>
              <a:ext uri="{FF2B5EF4-FFF2-40B4-BE49-F238E27FC236}">
                <a16:creationId xmlns:a16="http://schemas.microsoft.com/office/drawing/2014/main" id="{80434396-FB33-4736-85CA-F0CC5C8BF9DD}"/>
              </a:ext>
            </a:extLst>
          </p:cNvPr>
          <p:cNvSpPr>
            <a:spLocks noGrp="1"/>
          </p:cNvSpPr>
          <p:nvPr/>
        </p:nvSpPr>
        <p:spPr>
          <a:xfrm>
            <a:off x="8771382" y="3849623"/>
            <a:ext cx="292608" cy="0"/>
          </a:xfrm>
          <a:prstGeom prst="line">
            <a:avLst/>
          </a:prstGeom>
          <a:ln w="25400">
            <a:solidFill>
              <a:srgbClr val="BD8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E81E5C-7C76-443C-ACDB-8301B700E254}"/>
              </a:ext>
            </a:extLst>
          </p:cNvPr>
          <p:cNvSpPr>
            <a:spLocks noGrp="1"/>
          </p:cNvSpPr>
          <p:nvPr/>
        </p:nvSpPr>
        <p:spPr>
          <a:xfrm>
            <a:off x="9109710" y="2798063"/>
            <a:ext cx="2475738" cy="2103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741743-D5F0-407D-9C9E-15ABC238CA31}"/>
              </a:ext>
            </a:extLst>
          </p:cNvPr>
          <p:cNvSpPr>
            <a:spLocks noGrp="1"/>
          </p:cNvSpPr>
          <p:nvPr/>
        </p:nvSpPr>
        <p:spPr>
          <a:xfrm>
            <a:off x="9219438" y="2962655"/>
            <a:ext cx="225628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运行参数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00B779-59E3-4BBB-83E1-EED40CD9291F}"/>
              </a:ext>
            </a:extLst>
          </p:cNvPr>
          <p:cNvSpPr>
            <a:spLocks noGrp="1"/>
          </p:cNvSpPr>
          <p:nvPr/>
        </p:nvSpPr>
        <p:spPr>
          <a:xfrm>
            <a:off x="9219438" y="3511295"/>
            <a:ext cx="2256282" cy="90794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资源、网络、用户</a:t>
            </a:r>
          </a:p>
          <a:p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超时</a:t>
            </a:r>
          </a:p>
          <a:p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→ compose.yaml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944BD4-1FD7-44CD-88E7-DB128026691F}"/>
              </a:ext>
            </a:extLst>
          </p:cNvPr>
          <p:cNvSpPr>
            <a:spLocks noGrp="1"/>
          </p:cNvSpPr>
          <p:nvPr/>
        </p:nvSpPr>
        <p:spPr>
          <a:xfrm>
            <a:off x="758952" y="5257800"/>
            <a:ext cx="11055096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复现条件：</a:t>
            </a: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同一模板 SHA + 同一条命令</a:t>
            </a: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，得到同样的测试和冒烟结果</a:t>
            </a:r>
          </a:p>
        </p:txBody>
      </p:sp>
    </p:spTree>
    <p:extLst>
      <p:ext uri="{BB962C8B-B14F-4D97-AF65-F5344CB8AC3E}">
        <p14:creationId xmlns:p14="http://schemas.microsoft.com/office/powerpoint/2010/main" val="171103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8206AF-93B9-49BB-937E-3D15EEB6BE2B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依赖固定：标签不等于版本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79DABB-6B26-471D-B596-83D6FB6D160B}"/>
              </a:ext>
            </a:extLst>
          </p:cNvPr>
          <p:cNvSpPr>
            <a:spLocks noGrp="1"/>
          </p:cNvSpPr>
          <p:nvPr/>
        </p:nvSpPr>
        <p:spPr>
          <a:xfrm>
            <a:off x="531876" y="1823914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标签可以被重新指向；digest 由镜像内容计算，内容变了 digest 就变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E60E0F-CB3E-4DD7-910F-B9F90C33DF76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8C1D15-562E-43A6-8DDD-95ECD4A83E61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16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16438D-3A50-45C1-A71F-4697338E7019}"/>
              </a:ext>
            </a:extLst>
          </p:cNvPr>
          <p:cNvSpPr>
            <a:spLocks noGrp="1"/>
          </p:cNvSpPr>
          <p:nvPr/>
        </p:nvSpPr>
        <p:spPr>
          <a:xfrm>
            <a:off x="621792" y="2587752"/>
            <a:ext cx="6839712" cy="3566160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F6BFAE-DAFA-4C3E-9D84-67E6ACF55F1F}"/>
              </a:ext>
            </a:extLst>
          </p:cNvPr>
          <p:cNvSpPr>
            <a:spLocks noGrp="1"/>
          </p:cNvSpPr>
          <p:nvPr/>
        </p:nvSpPr>
        <p:spPr>
          <a:xfrm>
            <a:off x="804672" y="2752344"/>
            <a:ext cx="6519672" cy="1737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 E3：标签，明天可能指向另一个镜像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FROM python:3.13-slim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endParaRPr sz="1350" b="0">
              <a:solidFill>
                <a:srgbClr val="1C274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 E4：按内容摘要固定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ARG BASE_IMAGE=python:3.13-slim@sha256:f82c…cbcd74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FROM ${BASE_IMAGE}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endParaRPr sz="1350" b="0">
              <a:solidFill>
                <a:srgbClr val="1C274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 实际镜像站地址与核验命令见手册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AE8B65-F836-4B0D-A807-CFE028C1FD0F}"/>
              </a:ext>
            </a:extLst>
          </p:cNvPr>
          <p:cNvSpPr>
            <a:spLocks noGrp="1"/>
          </p:cNvSpPr>
          <p:nvPr/>
        </p:nvSpPr>
        <p:spPr>
          <a:xfrm>
            <a:off x="7827264" y="2679192"/>
            <a:ext cx="383133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64356C-0907-4D36-8927-FE2F28B3E6DA}"/>
              </a:ext>
            </a:extLst>
          </p:cNvPr>
          <p:cNvSpPr>
            <a:spLocks noGrp="1"/>
          </p:cNvSpPr>
          <p:nvPr/>
        </p:nvSpPr>
        <p:spPr>
          <a:xfrm>
            <a:off x="7827264" y="3364992"/>
            <a:ext cx="3831335" cy="1432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标签是可变指针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digest 来自 E3 的真实构建日志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升级只改一行并写进提交说明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本次 ECS 从镜像站取同一 digest</a:t>
            </a:r>
          </a:p>
        </p:txBody>
      </p:sp>
    </p:spTree>
    <p:extLst>
      <p:ext uri="{BB962C8B-B14F-4D97-AF65-F5344CB8AC3E}">
        <p14:creationId xmlns:p14="http://schemas.microsoft.com/office/powerpoint/2010/main" val="2116387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712375-01AA-4802-A0C0-2112268E52DE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各类依赖分别怎么固定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29351-57EE-407F-A66C-BC1E24654084}"/>
              </a:ext>
            </a:extLst>
          </p:cNvPr>
          <p:cNvSpPr>
            <a:spLocks noGrp="1"/>
          </p:cNvSpPr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能锁定的就锁定；锁不住的，至少把实际版本导出成清单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8DFCD6-FD7E-4CF0-99D3-AB54C512481E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23BEF8-7881-4E85-87B6-3E37BD304E67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16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9</a:t>
            </a:r>
          </a:p>
        </p:txBody>
      </p:sp>
      <p:graphicFrame>
        <p:nvGraphicFramePr>
          <p:cNvPr id="11" name="Table 5"/>
          <p:cNvGraphicFramePr/>
          <p:nvPr/>
        </p:nvGraphicFramePr>
        <p:xfrm>
          <a:off x="612648" y="2651760"/>
          <a:ext cx="10972800" cy="3291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5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依赖</a:t>
                      </a:r>
                    </a:p>
                  </a:txBody>
                  <a:tcPr marL="128016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例子</a:t>
                      </a:r>
                    </a:p>
                  </a:txBody>
                  <a:tcPr marL="128016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固定方式</a:t>
                      </a:r>
                    </a:p>
                  </a:txBody>
                  <a:tcPr marL="128016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留下的证据</a:t>
                      </a:r>
                    </a:p>
                  </a:txBody>
                  <a:tcPr marL="128016" marT="64008" marB="64008" anchor="ctr">
                    <a:solidFill>
                      <a:srgbClr val="BD8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基础镜像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python:3.13-slim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@sha256 digest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build.log 的 resolve 行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系统工具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gcc、make、strace、git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构建时导出实际版本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toolchain.lock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包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pytest 及其依赖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锁文件 + 哈希，--require-hashes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requirements-dev.lock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Docker 命令行（B 组）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docker:28.5.1-cli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@sha256 digest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Dockerfile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被测项目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论文项目仓库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 40 位 commit SHA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复现说明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869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972FA0-8FAF-4026-AA75-707A3BF8DC79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服务 Dockerfile（A 组示例）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2C5EFD-6198-4EA5-B933-C3E84DE566F5}"/>
              </a:ext>
            </a:extLst>
          </p:cNvPr>
          <p:cNvSpPr>
            <a:spLocks noGrp="1"/>
          </p:cNvSpPr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固定 digest、导出版本清单、按哈希安装、非 root 运行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833B7B-E57D-48E6-B3C4-43B9DA062BF1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B2CA70-7011-4D7F-AB5C-D36BF7E7FCE8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16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96D2DA-C90F-43C3-9844-86AE51785162}"/>
              </a:ext>
            </a:extLst>
          </p:cNvPr>
          <p:cNvSpPr>
            <a:spLocks noGrp="1"/>
          </p:cNvSpPr>
          <p:nvPr/>
        </p:nvSpPr>
        <p:spPr>
          <a:xfrm>
            <a:off x="621792" y="2587752"/>
            <a:ext cx="6839712" cy="3657600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6E438-D74A-4443-8C53-C77DDA22D6D2}"/>
              </a:ext>
            </a:extLst>
          </p:cNvPr>
          <p:cNvSpPr>
            <a:spLocks noGrp="1"/>
          </p:cNvSpPr>
          <p:nvPr/>
        </p:nvSpPr>
        <p:spPr>
          <a:xfrm>
            <a:off x="804672" y="2752344"/>
            <a:ext cx="6519672" cy="3383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ARG BASE_IMAGE=python:3.13-slim@sha256:f82c…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FROM ${BASE_IMAGE}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RUN apt-get update \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&amp;&amp; apt-get install -y --no-install-recommends \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  gcc make libc6-dev strace git \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&amp;&amp; rm -rf /var/lib/apt/lists/* \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&amp;&amp; dpkg-query -W -f='${Package}=${Version}\n' \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  gcc make libc6-dev strace git \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  &gt; /opt/toolchain.lock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COPY requirements-dev.lock /tmp/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RUN pip install --require-hashes \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  -r /tmp/requirements-dev.lock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RUN useradd --uid 10001 app \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&amp;&amp; install -d -o app -g app /app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COPY --chown=app:app services/buildchecker/ /app/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2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USER app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8D132E-26AF-44DE-93AE-AA02E454F3F2}"/>
              </a:ext>
            </a:extLst>
          </p:cNvPr>
          <p:cNvSpPr>
            <a:spLocks noGrp="1"/>
          </p:cNvSpPr>
          <p:nvPr/>
        </p:nvSpPr>
        <p:spPr>
          <a:xfrm>
            <a:off x="7827264" y="2679192"/>
            <a:ext cx="383133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3BB530-4713-43DA-B7ED-A227438E34D0}"/>
              </a:ext>
            </a:extLst>
          </p:cNvPr>
          <p:cNvSpPr>
            <a:spLocks noGrp="1"/>
          </p:cNvSpPr>
          <p:nvPr/>
        </p:nvSpPr>
        <p:spPr>
          <a:xfrm>
            <a:off x="7827264" y="3364992"/>
            <a:ext cx="3831335" cy="2052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基础镜像按 digest 固定；实际入口见手册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构建时导出工具实际版本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Python 包按哈希安装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先建 /app 再复制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以普通用户运行</a:t>
            </a:r>
          </a:p>
        </p:txBody>
      </p:sp>
    </p:spTree>
    <p:extLst>
      <p:ext uri="{BB962C8B-B14F-4D97-AF65-F5344CB8AC3E}">
        <p14:creationId xmlns:p14="http://schemas.microsoft.com/office/powerpoint/2010/main" val="1913442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1B4583-18F0-45FE-8547-7AE5A6D49BBA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Compose：A 组与 B 组的差别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F51046-E0E0-4EC4-A9EE-643CBAFCB7F7}"/>
              </a:ext>
            </a:extLst>
          </p:cNvPr>
          <p:cNvSpPr>
            <a:spLocks noGrp="1"/>
          </p:cNvSpPr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同样限制资源；A 组要 strace，B 组要使用宿主机 Docker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8CB863-6B8E-421E-A71A-0169DD679112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37D9A8-752D-4F92-B272-576676D19929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16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707801-EE9B-4554-9712-C151985B1CFD}"/>
              </a:ext>
            </a:extLst>
          </p:cNvPr>
          <p:cNvSpPr>
            <a:spLocks noGrp="1"/>
          </p:cNvSpPr>
          <p:nvPr/>
        </p:nvSpPr>
        <p:spPr>
          <a:xfrm>
            <a:off x="621792" y="2587752"/>
            <a:ext cx="5349240" cy="3611880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D56A9-09A1-4CF6-880C-1BB25E236DD0}"/>
              </a:ext>
            </a:extLst>
          </p:cNvPr>
          <p:cNvSpPr>
            <a:spLocks noGrp="1"/>
          </p:cNvSpPr>
          <p:nvPr/>
        </p:nvSpPr>
        <p:spPr>
          <a:xfrm>
            <a:off x="804672" y="2679192"/>
            <a:ext cx="502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A 组 compose.yaml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F04C78-CDC1-454B-B89D-DDA7F6BD8C63}"/>
              </a:ext>
            </a:extLst>
          </p:cNvPr>
          <p:cNvSpPr>
            <a:spLocks noGrp="1"/>
          </p:cNvSpPr>
          <p:nvPr/>
        </p:nvSpPr>
        <p:spPr>
          <a:xfrm>
            <a:off x="804672" y="3108960"/>
            <a:ext cx="5029200" cy="3017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services:</a:t>
            </a:r>
          </a:p>
          <a:p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buildchecker:</a:t>
            </a:r>
          </a:p>
          <a:p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image: e4-buildchecker:${STUDENT_ID}</a:t>
            </a:r>
          </a:p>
          <a:p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network_mode: none</a:t>
            </a:r>
          </a:p>
          <a:p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cpus: 2</a:t>
            </a:r>
          </a:p>
          <a:p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mem_limit: 1g</a:t>
            </a:r>
          </a:p>
          <a:p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pids_limit: 256</a:t>
            </a:r>
          </a:p>
          <a:p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cap_add: [SYS_PTRACE]</a:t>
            </a:r>
          </a:p>
          <a:p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security_opt:</a:t>
            </a:r>
          </a:p>
          <a:p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  - no-new-privileges:true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47D640-3951-4835-9CFD-D5739A991698}"/>
              </a:ext>
            </a:extLst>
          </p:cNvPr>
          <p:cNvSpPr>
            <a:spLocks noGrp="1"/>
          </p:cNvSpPr>
          <p:nvPr/>
        </p:nvSpPr>
        <p:spPr>
          <a:xfrm>
            <a:off x="6245352" y="2587752"/>
            <a:ext cx="5413248" cy="3611880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EC7690-645E-4891-91ED-0C06AF65F99E}"/>
              </a:ext>
            </a:extLst>
          </p:cNvPr>
          <p:cNvSpPr>
            <a:spLocks noGrp="1"/>
          </p:cNvSpPr>
          <p:nvPr/>
        </p:nvSpPr>
        <p:spPr>
          <a:xfrm>
            <a:off x="6428232" y="2679192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6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B 组 compose.yaml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BFB5B9-F9E6-4F77-A78B-DE1EF05F4610}"/>
              </a:ext>
            </a:extLst>
          </p:cNvPr>
          <p:cNvSpPr>
            <a:spLocks noGrp="1"/>
          </p:cNvSpPr>
          <p:nvPr/>
        </p:nvSpPr>
        <p:spPr>
          <a:xfrm>
            <a:off x="6428232" y="3108960"/>
            <a:ext cx="5120640" cy="3017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services:</a:t>
            </a:r>
          </a:p>
          <a:p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draft:</a:t>
            </a:r>
          </a:p>
          <a:p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image: e4-draft:${STUDENT_ID}</a:t>
            </a:r>
          </a:p>
          <a:p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volumes:</a:t>
            </a:r>
          </a:p>
          <a:p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  - /var/run/docker.sock:</a:t>
            </a:r>
          </a:p>
          <a:p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      /var/run/docker.sock</a:t>
            </a:r>
          </a:p>
          <a:p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group_add: ["${DOCKER_GID}"]</a:t>
            </a:r>
          </a:p>
          <a:p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env_file: .env</a:t>
            </a:r>
          </a:p>
          <a:p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cpus: 2</a:t>
            </a:r>
          </a:p>
          <a:p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mem_limit: 1g</a:t>
            </a:r>
          </a:p>
          <a:p>
            <a:pPr algn="l">
              <a:spcAft>
                <a:spcPts val="0"/>
              </a:spcAft>
              <a:buNone/>
            </a:pPr>
            <a:r>
              <a:rPr sz="130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pids_limit: 256</a:t>
            </a:r>
          </a:p>
        </p:txBody>
      </p:sp>
    </p:spTree>
    <p:extLst>
      <p:ext uri="{BB962C8B-B14F-4D97-AF65-F5344CB8AC3E}">
        <p14:creationId xmlns:p14="http://schemas.microsoft.com/office/powerpoint/2010/main" val="848560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A3C254-C4B5-4C44-89B8-4FEB73BF70E2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 组：为什么要挂载 docker.sock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FDA66A-5A04-479B-89A4-29B81F3CDDB1}"/>
              </a:ext>
            </a:extLst>
          </p:cNvPr>
          <p:cNvSpPr>
            <a:spLocks noGrp="1"/>
          </p:cNvSpPr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DRAFT 的工作就是执行 docker build；而课程要求服务本身也运行在容器里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ABE9A6-0BC6-4C1C-932C-96604553A093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1148A1-6C9A-4118-8AE0-9AFB00667FBA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16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AFC613-91D2-49F8-872D-B00D15650E39}"/>
              </a:ext>
            </a:extLst>
          </p:cNvPr>
          <p:cNvSpPr>
            <a:spLocks noGrp="1"/>
          </p:cNvSpPr>
          <p:nvPr/>
        </p:nvSpPr>
        <p:spPr>
          <a:xfrm>
            <a:off x="1097280" y="2788920"/>
            <a:ext cx="3017520" cy="1737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4DFFAC-F3EF-4CB2-B080-2FA370B3BD49}"/>
              </a:ext>
            </a:extLst>
          </p:cNvPr>
          <p:cNvSpPr>
            <a:spLocks noGrp="1"/>
          </p:cNvSpPr>
          <p:nvPr/>
        </p:nvSpPr>
        <p:spPr>
          <a:xfrm>
            <a:off x="1207007" y="2953512"/>
            <a:ext cx="279806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DRAFT 容器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A14FCC-FE4F-4C65-A5D2-AF0CDF4D7D83}"/>
              </a:ext>
            </a:extLst>
          </p:cNvPr>
          <p:cNvSpPr>
            <a:spLocks noGrp="1"/>
          </p:cNvSpPr>
          <p:nvPr/>
        </p:nvSpPr>
        <p:spPr>
          <a:xfrm>
            <a:off x="1207007" y="3502152"/>
            <a:ext cx="2798064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只有 docker 命令行</a:t>
            </a:r>
          </a:p>
          <a:p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没有 Docker 引擎</a:t>
            </a:r>
          </a:p>
        </p:txBody>
      </p:sp>
      <p:sp>
        <p:nvSpPr>
          <p:cNvPr id="9" name="Connector 8">
            <a:extLst>
              <a:ext uri="{FF2B5EF4-FFF2-40B4-BE49-F238E27FC236}">
                <a16:creationId xmlns:a16="http://schemas.microsoft.com/office/drawing/2014/main" id="{EF19B3D4-CF92-4374-BF4A-B73E4FB6606C}"/>
              </a:ext>
            </a:extLst>
          </p:cNvPr>
          <p:cNvSpPr>
            <a:spLocks noGrp="1"/>
          </p:cNvSpPr>
          <p:nvPr/>
        </p:nvSpPr>
        <p:spPr>
          <a:xfrm>
            <a:off x="4160520" y="3657600"/>
            <a:ext cx="548640" cy="0"/>
          </a:xfrm>
          <a:prstGeom prst="line">
            <a:avLst/>
          </a:prstGeom>
          <a:ln w="25400">
            <a:solidFill>
              <a:srgbClr val="BD8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6DD104-E49D-4329-9FF9-5F62EC32B6B8}"/>
              </a:ext>
            </a:extLst>
          </p:cNvPr>
          <p:cNvSpPr>
            <a:spLocks noGrp="1"/>
          </p:cNvSpPr>
          <p:nvPr/>
        </p:nvSpPr>
        <p:spPr>
          <a:xfrm>
            <a:off x="4754880" y="2788920"/>
            <a:ext cx="3017520" cy="1737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A7CC63-E704-4A9B-A1FE-B32A76815FFC}"/>
              </a:ext>
            </a:extLst>
          </p:cNvPr>
          <p:cNvSpPr>
            <a:spLocks noGrp="1"/>
          </p:cNvSpPr>
          <p:nvPr/>
        </p:nvSpPr>
        <p:spPr>
          <a:xfrm>
            <a:off x="4864608" y="2953512"/>
            <a:ext cx="279806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docker.sock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540F4E-A50F-4C84-883F-02D51560BA4D}"/>
              </a:ext>
            </a:extLst>
          </p:cNvPr>
          <p:cNvSpPr>
            <a:spLocks noGrp="1"/>
          </p:cNvSpPr>
          <p:nvPr/>
        </p:nvSpPr>
        <p:spPr>
          <a:xfrm>
            <a:off x="4864608" y="3502152"/>
            <a:ext cx="2798064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从宿主机挂载进来</a:t>
            </a:r>
          </a:p>
          <a:p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请求经它转发</a:t>
            </a:r>
          </a:p>
        </p:txBody>
      </p:sp>
      <p:sp>
        <p:nvSpPr>
          <p:cNvPr id="13" name="Connector 12">
            <a:extLst>
              <a:ext uri="{FF2B5EF4-FFF2-40B4-BE49-F238E27FC236}">
                <a16:creationId xmlns:a16="http://schemas.microsoft.com/office/drawing/2014/main" id="{D8851A25-BE0C-4119-AD92-AC09C9012044}"/>
              </a:ext>
            </a:extLst>
          </p:cNvPr>
          <p:cNvSpPr>
            <a:spLocks noGrp="1"/>
          </p:cNvSpPr>
          <p:nvPr/>
        </p:nvSpPr>
        <p:spPr>
          <a:xfrm>
            <a:off x="7818120" y="3657600"/>
            <a:ext cx="548639" cy="0"/>
          </a:xfrm>
          <a:prstGeom prst="line">
            <a:avLst/>
          </a:prstGeom>
          <a:ln w="25400">
            <a:solidFill>
              <a:srgbClr val="BD8B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D3B727-2BE3-4AFE-BA66-F66C0C99C006}"/>
              </a:ext>
            </a:extLst>
          </p:cNvPr>
          <p:cNvSpPr>
            <a:spLocks noGrp="1"/>
          </p:cNvSpPr>
          <p:nvPr/>
        </p:nvSpPr>
        <p:spPr>
          <a:xfrm>
            <a:off x="8412480" y="2788920"/>
            <a:ext cx="3017520" cy="17373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F76675-657C-4624-B1DF-6B096D5610DF}"/>
              </a:ext>
            </a:extLst>
          </p:cNvPr>
          <p:cNvSpPr>
            <a:spLocks noGrp="1"/>
          </p:cNvSpPr>
          <p:nvPr/>
        </p:nvSpPr>
        <p:spPr>
          <a:xfrm>
            <a:off x="8522207" y="2953512"/>
            <a:ext cx="2798064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宿主机 Docker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56A7DC-5878-442A-A0AB-D39F65EE892B}"/>
              </a:ext>
            </a:extLst>
          </p:cNvPr>
          <p:cNvSpPr>
            <a:spLocks noGrp="1"/>
          </p:cNvSpPr>
          <p:nvPr/>
        </p:nvSpPr>
        <p:spPr>
          <a:xfrm>
            <a:off x="8522207" y="3502152"/>
            <a:ext cx="2798064" cy="9143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真正执行 docker build</a:t>
            </a:r>
          </a:p>
          <a:p>
            <a:pPr algn="ctr">
              <a:spcAft>
                <a:spcPts val="300"/>
              </a:spcAft>
              <a:buNone/>
            </a:pPr>
            <a:r>
              <a:rPr sz="16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镜像、缓存都在宿主机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CA1A5A-D1B4-4531-B43D-C5E74F00EEF5}"/>
              </a:ext>
            </a:extLst>
          </p:cNvPr>
          <p:cNvSpPr>
            <a:spLocks noGrp="1"/>
          </p:cNvSpPr>
          <p:nvPr/>
        </p:nvSpPr>
        <p:spPr>
          <a:xfrm>
            <a:off x="758952" y="4937760"/>
            <a:ext cx="1106424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论文：</a:t>
            </a: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DRAFT 直接运行在 Ubuntu 22.04 服务器上，不存在这个问题</a:t>
            </a:r>
          </a:p>
          <a:p>
            <a:pPr algn="l">
              <a:spcAft>
                <a:spcPts val="10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课程：</a:t>
            </a: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服务要容器化（P-15），因此需要挂载；这一条写进 E5 差异记录</a:t>
            </a:r>
          </a:p>
        </p:txBody>
      </p:sp>
    </p:spTree>
    <p:extLst>
      <p:ext uri="{BB962C8B-B14F-4D97-AF65-F5344CB8AC3E}">
        <p14:creationId xmlns:p14="http://schemas.microsoft.com/office/powerpoint/2010/main" val="1230052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C03EF6-97F7-44A0-A098-065771DF3D6D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 组：挂载步骤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CCAF8-AD17-43E9-B203-2642DAB34B51}"/>
              </a:ext>
            </a:extLst>
          </p:cNvPr>
          <p:cNvSpPr>
            <a:spLocks noGrp="1"/>
          </p:cNvSpPr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模板已经写好；上课时逐项找到对应的写法并验证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A3D951-C118-476B-BD5D-4BAB7E1C0E1E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29268E-BC94-4642-A35F-18C712882145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16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4F404B-C812-42B7-AE04-AF6953732F8B}"/>
              </a:ext>
            </a:extLst>
          </p:cNvPr>
          <p:cNvSpPr>
            <a:spLocks noGrp="1"/>
          </p:cNvSpPr>
          <p:nvPr/>
        </p:nvSpPr>
        <p:spPr>
          <a:xfrm>
            <a:off x="758952" y="2651760"/>
            <a:ext cx="1956816" cy="5669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19FB52-99A0-47BD-AC3D-8EE285CD94E9}"/>
              </a:ext>
            </a:extLst>
          </p:cNvPr>
          <p:cNvSpPr>
            <a:spLocks noGrp="1"/>
          </p:cNvSpPr>
          <p:nvPr/>
        </p:nvSpPr>
        <p:spPr>
          <a:xfrm>
            <a:off x="758952" y="2651760"/>
            <a:ext cx="1956816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第一步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175340-4DEF-409B-A30D-3236850E4430}"/>
              </a:ext>
            </a:extLst>
          </p:cNvPr>
          <p:cNvSpPr>
            <a:spLocks noGrp="1"/>
          </p:cNvSpPr>
          <p:nvPr/>
        </p:nvSpPr>
        <p:spPr>
          <a:xfrm>
            <a:off x="3035808" y="2651760"/>
            <a:ext cx="854964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Dockerfile：从 docker:cli 镜像复制 docker 命令行（只有客户端）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580D67-894A-4982-9919-50D9F26BAD8A}"/>
              </a:ext>
            </a:extLst>
          </p:cNvPr>
          <p:cNvSpPr>
            <a:spLocks noGrp="1"/>
          </p:cNvSpPr>
          <p:nvPr/>
        </p:nvSpPr>
        <p:spPr>
          <a:xfrm>
            <a:off x="758952" y="3346704"/>
            <a:ext cx="1956816" cy="5669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6D09B9-B7A3-42E3-B6FF-8DFF6F90CADB}"/>
              </a:ext>
            </a:extLst>
          </p:cNvPr>
          <p:cNvSpPr>
            <a:spLocks noGrp="1"/>
          </p:cNvSpPr>
          <p:nvPr/>
        </p:nvSpPr>
        <p:spPr>
          <a:xfrm>
            <a:off x="758952" y="3346704"/>
            <a:ext cx="1956816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第二步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F6A87F-D52C-498F-BB15-8AD166257F9F}"/>
              </a:ext>
            </a:extLst>
          </p:cNvPr>
          <p:cNvSpPr>
            <a:spLocks noGrp="1"/>
          </p:cNvSpPr>
          <p:nvPr/>
        </p:nvSpPr>
        <p:spPr>
          <a:xfrm>
            <a:off x="3035808" y="3346704"/>
            <a:ext cx="854964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compose.yaml：挂载 /var/run/docker.sock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64D3AB-0C15-4AA1-B035-C28D5EE49C02}"/>
              </a:ext>
            </a:extLst>
          </p:cNvPr>
          <p:cNvSpPr>
            <a:spLocks noGrp="1"/>
          </p:cNvSpPr>
          <p:nvPr/>
        </p:nvSpPr>
        <p:spPr>
          <a:xfrm>
            <a:off x="758952" y="4041648"/>
            <a:ext cx="1956816" cy="5669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BB96BD-FD4D-47F1-BDDF-9EC9FD744FA6}"/>
              </a:ext>
            </a:extLst>
          </p:cNvPr>
          <p:cNvSpPr>
            <a:spLocks noGrp="1"/>
          </p:cNvSpPr>
          <p:nvPr/>
        </p:nvSpPr>
        <p:spPr>
          <a:xfrm>
            <a:off x="758952" y="4041648"/>
            <a:ext cx="1956816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第三步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27CC6A-7420-44D7-864E-CD8FBDCA2A6E}"/>
              </a:ext>
            </a:extLst>
          </p:cNvPr>
          <p:cNvSpPr>
            <a:spLocks noGrp="1"/>
          </p:cNvSpPr>
          <p:nvPr/>
        </p:nvSpPr>
        <p:spPr>
          <a:xfrm>
            <a:off x="3035808" y="4041648"/>
            <a:ext cx="854964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group_add：加入 docker.sock 的组号（make 自动取得）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BAEB92-FA14-4E4A-9AC2-4BE5D4BCAB9B}"/>
              </a:ext>
            </a:extLst>
          </p:cNvPr>
          <p:cNvSpPr>
            <a:spLocks noGrp="1"/>
          </p:cNvSpPr>
          <p:nvPr/>
        </p:nvSpPr>
        <p:spPr>
          <a:xfrm>
            <a:off x="758952" y="4736592"/>
            <a:ext cx="1956816" cy="5669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B591FB-1258-41C0-86D4-D05848832EB2}"/>
              </a:ext>
            </a:extLst>
          </p:cNvPr>
          <p:cNvSpPr>
            <a:spLocks noGrp="1"/>
          </p:cNvSpPr>
          <p:nvPr/>
        </p:nvSpPr>
        <p:spPr>
          <a:xfrm>
            <a:off x="758952" y="4736592"/>
            <a:ext cx="1956816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第四步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CB2E0A-053B-4AC0-9B21-77D2419ABB9A}"/>
              </a:ext>
            </a:extLst>
          </p:cNvPr>
          <p:cNvSpPr>
            <a:spLocks noGrp="1"/>
          </p:cNvSpPr>
          <p:nvPr/>
        </p:nvSpPr>
        <p:spPr>
          <a:xfrm>
            <a:off x="3035808" y="4736592"/>
            <a:ext cx="85496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smoke 先确认 Docker Server 可用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D6B3FC-16B5-46C5-8E0F-8432133F28CA}"/>
              </a:ext>
            </a:extLst>
          </p:cNvPr>
          <p:cNvSpPr>
            <a:spLocks noGrp="1"/>
          </p:cNvSpPr>
          <p:nvPr/>
        </p:nvSpPr>
        <p:spPr>
          <a:xfrm>
            <a:off x="758952" y="5431536"/>
            <a:ext cx="1956816" cy="56692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04DB93-2B02-4A6A-89BB-289CED0C4062}"/>
              </a:ext>
            </a:extLst>
          </p:cNvPr>
          <p:cNvSpPr>
            <a:spLocks noGrp="1"/>
          </p:cNvSpPr>
          <p:nvPr/>
        </p:nvSpPr>
        <p:spPr>
          <a:xfrm>
            <a:off x="758952" y="5431536"/>
            <a:ext cx="1956816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第五步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1E0C19-7C8E-46DD-8B98-14054661131D}"/>
              </a:ext>
            </a:extLst>
          </p:cNvPr>
          <p:cNvSpPr>
            <a:spLocks noGrp="1"/>
          </p:cNvSpPr>
          <p:nvPr/>
        </p:nvSpPr>
        <p:spPr>
          <a:xfrm>
            <a:off x="3035808" y="5431536"/>
            <a:ext cx="85496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再构建 Dockerfile.broken，记录预期失败</a:t>
            </a:r>
          </a:p>
        </p:txBody>
      </p:sp>
    </p:spTree>
    <p:extLst>
      <p:ext uri="{BB962C8B-B14F-4D97-AF65-F5344CB8AC3E}">
        <p14:creationId xmlns:p14="http://schemas.microsoft.com/office/powerpoint/2010/main" val="1479291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178951-21AE-4013-885C-C2180DAA846C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 组：挂载 docker.sock 的风险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78A408-37DF-4CA3-B2D0-6890DBB9EB9A}"/>
              </a:ext>
            </a:extLst>
          </p:cNvPr>
          <p:cNvSpPr>
            <a:spLocks noGrp="1"/>
          </p:cNvSpPr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能访问 docker.sock 就等于拥有宿主机 root 权限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7832E2-4054-442C-88B8-845A2C70A840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FCB78-CD5C-4FC1-A4EF-71F23F4E18F8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16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BE91C7-F688-4849-9FA4-FC1D0EB6F7FB}"/>
              </a:ext>
            </a:extLst>
          </p:cNvPr>
          <p:cNvSpPr>
            <a:spLocks noGrp="1"/>
          </p:cNvSpPr>
          <p:nvPr/>
        </p:nvSpPr>
        <p:spPr>
          <a:xfrm>
            <a:off x="758952" y="2697480"/>
            <a:ext cx="529894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E9CE8-F9EB-4437-8B1D-73026A930180}"/>
              </a:ext>
            </a:extLst>
          </p:cNvPr>
          <p:cNvSpPr>
            <a:spLocks noGrp="1"/>
          </p:cNvSpPr>
          <p:nvPr/>
        </p:nvSpPr>
        <p:spPr>
          <a:xfrm>
            <a:off x="1014983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风险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0678CF-B783-4EF8-B42A-1361379F598E}"/>
              </a:ext>
            </a:extLst>
          </p:cNvPr>
          <p:cNvSpPr>
            <a:spLocks noGrp="1"/>
          </p:cNvSpPr>
          <p:nvPr/>
        </p:nvSpPr>
        <p:spPr>
          <a:xfrm>
            <a:off x="1014983" y="3520440"/>
            <a:ext cx="4841748" cy="2423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访问 docker.sock ≈ 宿主机 root</a:t>
            </a:r>
          </a:p>
          <a:p>
            <a:pPr algn="l">
              <a:spcAft>
                <a:spcPts val="600"/>
              </a:spcAft>
              <a:buNone/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可删除任意镜像和容器</a:t>
            </a:r>
          </a:p>
          <a:p>
            <a:pPr algn="l">
              <a:spcAft>
                <a:spcPts val="600"/>
              </a:spcAft>
              <a:buNone/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容器的资源限制管不到构建</a:t>
            </a:r>
          </a:p>
          <a:p>
            <a:pPr algn="l">
              <a:spcAft>
                <a:spcPts val="600"/>
              </a:spcAft>
              <a:buNone/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恶意 Dockerfile 影响宿主机</a:t>
            </a:r>
          </a:p>
          <a:p>
            <a:pPr algn="l">
              <a:spcAft>
                <a:spcPts val="600"/>
              </a:spcAft>
              <a:buNone/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-v 的路径指宿主机路径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5C742D-E917-4DFF-BF1D-FE9D6143A787}"/>
              </a:ext>
            </a:extLst>
          </p:cNvPr>
          <p:cNvSpPr>
            <a:spLocks noGrp="1"/>
          </p:cNvSpPr>
          <p:nvPr/>
        </p:nvSpPr>
        <p:spPr>
          <a:xfrm>
            <a:off x="6515100" y="2697480"/>
            <a:ext cx="529894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95FBEE-3E4C-459F-9FEA-C9F7D864ACA4}"/>
              </a:ext>
            </a:extLst>
          </p:cNvPr>
          <p:cNvSpPr>
            <a:spLocks noGrp="1"/>
          </p:cNvSpPr>
          <p:nvPr/>
        </p:nvSpPr>
        <p:spPr>
          <a:xfrm>
            <a:off x="6771132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本课程的约束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E18B39-BB00-4D98-8110-CF0888A1C5FE}"/>
              </a:ext>
            </a:extLst>
          </p:cNvPr>
          <p:cNvSpPr>
            <a:spLocks noGrp="1"/>
          </p:cNvSpPr>
          <p:nvPr/>
        </p:nvSpPr>
        <p:spPr>
          <a:xfrm>
            <a:off x="6771132" y="3520440"/>
            <a:ext cx="4841748" cy="2423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每组独占一台服务器</a:t>
            </a:r>
          </a:p>
          <a:p>
            <a:pPr algn="l">
              <a:spcAft>
                <a:spcPts val="600"/>
              </a:spcAft>
              <a:buNone/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只构建课程指定的项目</a:t>
            </a:r>
          </a:p>
          <a:p>
            <a:pPr algn="l">
              <a:spcAft>
                <a:spcPts val="600"/>
              </a:spcAft>
              <a:buNone/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构建设置超时，及时清理镜像</a:t>
            </a:r>
          </a:p>
          <a:p>
            <a:pPr algn="l">
              <a:spcAft>
                <a:spcPts val="600"/>
              </a:spcAft>
              <a:buNone/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不开放 2375/2376 端口</a:t>
            </a:r>
          </a:p>
        </p:txBody>
      </p:sp>
    </p:spTree>
    <p:extLst>
      <p:ext uri="{BB962C8B-B14F-4D97-AF65-F5344CB8AC3E}">
        <p14:creationId xmlns:p14="http://schemas.microsoft.com/office/powerpoint/2010/main" val="2061213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237712-DA0C-4DCA-B3D7-8CB18E9610B8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密钥放在哪里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4DFBB4-465D-469A-858A-391E87941B42}"/>
              </a:ext>
            </a:extLst>
          </p:cNvPr>
          <p:cNvSpPr>
            <a:spLocks noGrp="1"/>
          </p:cNvSpPr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课程不提供 LLM API，需要时使用自己的 Key；GitHub Token 同样是密钥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04C0E9-C604-463D-8AC5-FAF608ACB0A0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E3EDCB-51A4-4745-B6D0-74BC42091197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16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28D5F1-EFF1-414C-BFBE-1D4269D141DD}"/>
              </a:ext>
            </a:extLst>
          </p:cNvPr>
          <p:cNvSpPr>
            <a:spLocks noGrp="1"/>
          </p:cNvSpPr>
          <p:nvPr/>
        </p:nvSpPr>
        <p:spPr>
          <a:xfrm>
            <a:off x="758952" y="2697480"/>
            <a:ext cx="52989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2BC82A-D32D-4355-A8D7-E5A11A771393}"/>
              </a:ext>
            </a:extLst>
          </p:cNvPr>
          <p:cNvSpPr>
            <a:spLocks noGrp="1"/>
          </p:cNvSpPr>
          <p:nvPr/>
        </p:nvSpPr>
        <p:spPr>
          <a:xfrm>
            <a:off x="1014983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可以这样做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1FA359-31ED-4B2A-B30F-37BFB67B0EEF}"/>
              </a:ext>
            </a:extLst>
          </p:cNvPr>
          <p:cNvSpPr>
            <a:spLocks noGrp="1"/>
          </p:cNvSpPr>
          <p:nvPr/>
        </p:nvSpPr>
        <p:spPr>
          <a:xfrm>
            <a:off x="1014983" y="3520440"/>
            <a:ext cx="4841748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.env 文件，权限 600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compose 的 env_file 运行时注入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CI 平台的 Secret 变量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构建期用 docker build --secret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B6E379-9C14-4016-AE79-8225A4CFDF9F}"/>
              </a:ext>
            </a:extLst>
          </p:cNvPr>
          <p:cNvSpPr>
            <a:spLocks noGrp="1"/>
          </p:cNvSpPr>
          <p:nvPr/>
        </p:nvSpPr>
        <p:spPr>
          <a:xfrm>
            <a:off x="6515100" y="2697480"/>
            <a:ext cx="52989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8D6DB3-1100-463B-8A32-63541577597C}"/>
              </a:ext>
            </a:extLst>
          </p:cNvPr>
          <p:cNvSpPr>
            <a:spLocks noGrp="1"/>
          </p:cNvSpPr>
          <p:nvPr/>
        </p:nvSpPr>
        <p:spPr>
          <a:xfrm>
            <a:off x="6771132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禁止这样做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EC4C26-1454-41E8-A7CB-EDF50F391D24}"/>
              </a:ext>
            </a:extLst>
          </p:cNvPr>
          <p:cNvSpPr>
            <a:spLocks noGrp="1"/>
          </p:cNvSpPr>
          <p:nvPr/>
        </p:nvSpPr>
        <p:spPr>
          <a:xfrm>
            <a:off x="6771132" y="3520440"/>
            <a:ext cx="4841748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写进源码、Dockerfile 的 ENV/ARG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把 .env 提交到仓库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打印到日志、截图、AI_USAGE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COPY 进镜像（docker history 可见）</a:t>
            </a:r>
          </a:p>
        </p:txBody>
      </p:sp>
    </p:spTree>
    <p:extLst>
      <p:ext uri="{BB962C8B-B14F-4D97-AF65-F5344CB8AC3E}">
        <p14:creationId xmlns:p14="http://schemas.microsoft.com/office/powerpoint/2010/main" val="1910241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C35438-030D-424D-B081-30A7BFA5932B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密钥会从哪里泄露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7F370D-63FC-4326-AEB1-C76DB3A613C8}"/>
              </a:ext>
            </a:extLst>
          </p:cNvPr>
          <p:cNvSpPr>
            <a:spLocks noGrp="1"/>
          </p:cNvSpPr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仓库、Git 历史、镜像层三个地方都要查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6A8D1B-D987-4458-89C9-8916158B44E4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5DD39B-52FA-4F44-8579-07655DDC6191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16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3E1349-FF0C-4C5A-96F4-5916E3508572}"/>
              </a:ext>
            </a:extLst>
          </p:cNvPr>
          <p:cNvSpPr>
            <a:spLocks noGrp="1"/>
          </p:cNvSpPr>
          <p:nvPr/>
        </p:nvSpPr>
        <p:spPr>
          <a:xfrm>
            <a:off x="621792" y="2587752"/>
            <a:ext cx="6839712" cy="3566160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0BE994-7B23-488A-A87F-62D40C91424F}"/>
              </a:ext>
            </a:extLst>
          </p:cNvPr>
          <p:cNvSpPr>
            <a:spLocks noGrp="1"/>
          </p:cNvSpPr>
          <p:nvPr/>
        </p:nvSpPr>
        <p:spPr>
          <a:xfrm>
            <a:off x="804672" y="2752344"/>
            <a:ext cx="6519672" cy="3291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 1. 仓库：.env 有没有被跟踪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git ls-files | grep -E '(^|/)\.env$'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endParaRPr sz="1350" b="0">
              <a:solidFill>
                <a:srgbClr val="1C274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 2. 历史：删掉文件，历史里还在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git log --all -p | grep -E 'sk-[A-Za-z0-9]{20,}'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endParaRPr sz="1350" b="0">
              <a:solidFill>
                <a:srgbClr val="1C274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 3. 镜像：每一层的构建命令都看得到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docker history --no-trunc &lt;镜像名&gt;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endParaRPr sz="1350" b="0">
              <a:solidFill>
                <a:srgbClr val="1C274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 一次检查三处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make scan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1C47B9-7872-4861-B316-282E55241B45}"/>
              </a:ext>
            </a:extLst>
          </p:cNvPr>
          <p:cNvSpPr>
            <a:spLocks noGrp="1"/>
          </p:cNvSpPr>
          <p:nvPr/>
        </p:nvSpPr>
        <p:spPr>
          <a:xfrm>
            <a:off x="7827264" y="2679192"/>
            <a:ext cx="383133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913823-A90B-46D9-B4F7-03C0B048CEDA}"/>
              </a:ext>
            </a:extLst>
          </p:cNvPr>
          <p:cNvSpPr>
            <a:spLocks noGrp="1"/>
          </p:cNvSpPr>
          <p:nvPr/>
        </p:nvSpPr>
        <p:spPr>
          <a:xfrm>
            <a:off x="7827264" y="3364992"/>
            <a:ext cx="3831335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泄露后先作废 Key，再清理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删除 commit 收不回已推送内容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ARG 传入的值会留在镜像历史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输出只显示前 4 位</a:t>
            </a:r>
          </a:p>
        </p:txBody>
      </p:sp>
    </p:spTree>
    <p:extLst>
      <p:ext uri="{BB962C8B-B14F-4D97-AF65-F5344CB8AC3E}">
        <p14:creationId xmlns:p14="http://schemas.microsoft.com/office/powerpoint/2010/main" val="1639930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CB0D28-3A06-43F9-BE49-ED731406A08B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一键命令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762487-580B-422B-A619-CD44F087EA04}"/>
              </a:ext>
            </a:extLst>
          </p:cNvPr>
          <p:cNvSpPr>
            <a:spLocks noGrp="1"/>
          </p:cNvSpPr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每次运行生成新的 work/&lt;时间&gt;/ 证据目录，不覆盖旧记录；make all 依次执行五步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90BC3B-03AA-4621-B66C-4DAB24E5FB8B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FCBDD1-B6B0-4F49-916D-BF61070BF043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16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FE3AA4-7346-48EA-AABB-43F368830303}"/>
              </a:ext>
            </a:extLst>
          </p:cNvPr>
          <p:cNvSpPr>
            <a:spLocks noGrp="1"/>
          </p:cNvSpPr>
          <p:nvPr/>
        </p:nvSpPr>
        <p:spPr>
          <a:xfrm>
            <a:off x="758952" y="2651760"/>
            <a:ext cx="2103120" cy="5852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C52C9F-9CDA-44CF-BC14-6BFB691C1F00}"/>
              </a:ext>
            </a:extLst>
          </p:cNvPr>
          <p:cNvSpPr>
            <a:spLocks noGrp="1"/>
          </p:cNvSpPr>
          <p:nvPr/>
        </p:nvSpPr>
        <p:spPr>
          <a:xfrm>
            <a:off x="758952" y="2651760"/>
            <a:ext cx="2103120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700" b="1">
                <a:solidFill>
                  <a:srgbClr val="BD8B2C"/>
                </a:solidFill>
                <a:latin typeface="Consolas"/>
                <a:ea typeface="Consolas"/>
                <a:cs typeface="Consolas"/>
              </a:rPr>
              <a:t>make doctor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FF309C-2882-4518-8A23-4725493ED416}"/>
              </a:ext>
            </a:extLst>
          </p:cNvPr>
          <p:cNvSpPr>
            <a:spLocks noGrp="1"/>
          </p:cNvSpPr>
          <p:nvPr/>
        </p:nvSpPr>
        <p:spPr>
          <a:xfrm>
            <a:off x="3182112" y="2651760"/>
            <a:ext cx="8403336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服务器与 Git 身份自检 → env.json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89F698-8842-4FC0-989C-AFEFE7EF46F9}"/>
              </a:ext>
            </a:extLst>
          </p:cNvPr>
          <p:cNvSpPr>
            <a:spLocks noGrp="1"/>
          </p:cNvSpPr>
          <p:nvPr/>
        </p:nvSpPr>
        <p:spPr>
          <a:xfrm>
            <a:off x="758952" y="3364991"/>
            <a:ext cx="2103120" cy="5852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C2EE43-6307-4FFC-AFAE-78CF6D1DB66B}"/>
              </a:ext>
            </a:extLst>
          </p:cNvPr>
          <p:cNvSpPr>
            <a:spLocks noGrp="1"/>
          </p:cNvSpPr>
          <p:nvPr/>
        </p:nvSpPr>
        <p:spPr>
          <a:xfrm>
            <a:off x="758952" y="3364991"/>
            <a:ext cx="2103120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700" b="1">
                <a:solidFill>
                  <a:srgbClr val="BD8B2C"/>
                </a:solidFill>
                <a:latin typeface="Consolas"/>
                <a:ea typeface="Consolas"/>
                <a:cs typeface="Consolas"/>
              </a:rPr>
              <a:t>make build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F7DC6A-1454-4CC8-AAEA-BE4C3BCBA7DB}"/>
              </a:ext>
            </a:extLst>
          </p:cNvPr>
          <p:cNvSpPr>
            <a:spLocks noGrp="1"/>
          </p:cNvSpPr>
          <p:nvPr/>
        </p:nvSpPr>
        <p:spPr>
          <a:xfrm>
            <a:off x="3182112" y="3364991"/>
            <a:ext cx="8403336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构建服务镜像 → build.log、image.json、toolchain.lock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27EE14-9FFB-475D-B385-CF7286D008A4}"/>
              </a:ext>
            </a:extLst>
          </p:cNvPr>
          <p:cNvSpPr>
            <a:spLocks noGrp="1"/>
          </p:cNvSpPr>
          <p:nvPr/>
        </p:nvSpPr>
        <p:spPr>
          <a:xfrm>
            <a:off x="758952" y="4078224"/>
            <a:ext cx="2103120" cy="5852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1DC60E-0EA0-481D-A1DE-0191A9747409}"/>
              </a:ext>
            </a:extLst>
          </p:cNvPr>
          <p:cNvSpPr>
            <a:spLocks noGrp="1"/>
          </p:cNvSpPr>
          <p:nvPr/>
        </p:nvSpPr>
        <p:spPr>
          <a:xfrm>
            <a:off x="758952" y="4078224"/>
            <a:ext cx="2103120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700" b="1">
                <a:solidFill>
                  <a:srgbClr val="BD8B2C"/>
                </a:solidFill>
                <a:latin typeface="Consolas"/>
                <a:ea typeface="Consolas"/>
                <a:cs typeface="Consolas"/>
              </a:rPr>
              <a:t>make test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A641FB-8B36-46DF-8945-240CB91047C2}"/>
              </a:ext>
            </a:extLst>
          </p:cNvPr>
          <p:cNvSpPr>
            <a:spLocks noGrp="1"/>
          </p:cNvSpPr>
          <p:nvPr/>
        </p:nvSpPr>
        <p:spPr>
          <a:xfrm>
            <a:off x="3182112" y="4078224"/>
            <a:ext cx="8403336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容器内运行本组单元测试 → test.log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2F7497-C41D-4181-BFAE-6CC7870A862B}"/>
              </a:ext>
            </a:extLst>
          </p:cNvPr>
          <p:cNvSpPr>
            <a:spLocks noGrp="1"/>
          </p:cNvSpPr>
          <p:nvPr/>
        </p:nvSpPr>
        <p:spPr>
          <a:xfrm>
            <a:off x="758952" y="4791456"/>
            <a:ext cx="2103120" cy="5852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5E9F21-7959-492F-BA15-AB7EB63BC9E1}"/>
              </a:ext>
            </a:extLst>
          </p:cNvPr>
          <p:cNvSpPr>
            <a:spLocks noGrp="1"/>
          </p:cNvSpPr>
          <p:nvPr/>
        </p:nvSpPr>
        <p:spPr>
          <a:xfrm>
            <a:off x="758952" y="4791456"/>
            <a:ext cx="2103120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700" b="1">
                <a:solidFill>
                  <a:srgbClr val="BD8B2C"/>
                </a:solidFill>
                <a:latin typeface="Consolas"/>
                <a:ea typeface="Consolas"/>
                <a:cs typeface="Consolas"/>
              </a:rPr>
              <a:t>make smoke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391075-CE7C-4605-A12D-C8A7690E2393}"/>
              </a:ext>
            </a:extLst>
          </p:cNvPr>
          <p:cNvSpPr>
            <a:spLocks noGrp="1"/>
          </p:cNvSpPr>
          <p:nvPr/>
        </p:nvSpPr>
        <p:spPr>
          <a:xfrm>
            <a:off x="3182112" y="4791456"/>
            <a:ext cx="8403336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用 E3 样例做冒烟测试 → smoke.json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20749B-6BD7-4E41-BA19-AF37AC982D98}"/>
              </a:ext>
            </a:extLst>
          </p:cNvPr>
          <p:cNvSpPr>
            <a:spLocks noGrp="1"/>
          </p:cNvSpPr>
          <p:nvPr/>
        </p:nvSpPr>
        <p:spPr>
          <a:xfrm>
            <a:off x="758952" y="5504688"/>
            <a:ext cx="2103120" cy="5852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469E74-44DE-4487-9CDC-1E9F9F166402}"/>
              </a:ext>
            </a:extLst>
          </p:cNvPr>
          <p:cNvSpPr>
            <a:spLocks noGrp="1"/>
          </p:cNvSpPr>
          <p:nvPr/>
        </p:nvSpPr>
        <p:spPr>
          <a:xfrm>
            <a:off x="758952" y="5504688"/>
            <a:ext cx="2103120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700" b="1">
                <a:solidFill>
                  <a:srgbClr val="BD8B2C"/>
                </a:solidFill>
                <a:latin typeface="Consolas"/>
                <a:ea typeface="Consolas"/>
                <a:cs typeface="Consolas"/>
              </a:rPr>
              <a:t>make scan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2FFDDE-5386-418E-94C4-D14183E64B4A}"/>
              </a:ext>
            </a:extLst>
          </p:cNvPr>
          <p:cNvSpPr>
            <a:spLocks noGrp="1"/>
          </p:cNvSpPr>
          <p:nvPr/>
        </p:nvSpPr>
        <p:spPr>
          <a:xfrm>
            <a:off x="3182112" y="5504688"/>
            <a:ext cx="8403336" cy="5852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工作区、Git 历史、镜像的密钥检查 → secret-scan.txt</a:t>
            </a:r>
          </a:p>
        </p:txBody>
      </p:sp>
    </p:spTree>
    <p:extLst>
      <p:ext uri="{BB962C8B-B14F-4D97-AF65-F5344CB8AC3E}">
        <p14:creationId xmlns:p14="http://schemas.microsoft.com/office/powerpoint/2010/main" val="818460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78F588-18B6-4CAA-9CBA-FD78542F65FB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冒烟测试与 E5 复现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0BFCD5-22CA-4F3A-B2AB-5E252BEABB6F}"/>
              </a:ext>
            </a:extLst>
          </p:cNvPr>
          <p:cNvSpPr>
            <a:spLocks noGrp="1"/>
          </p:cNvSpPr>
          <p:nvPr/>
        </p:nvSpPr>
        <p:spPr>
          <a:xfrm>
            <a:off x="530352" y="1837943"/>
            <a:ext cx="111282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冒烟测试确认环境可用；E5 在同一镜像中重新采集完整原始证据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377ADF-EEBD-4CCC-9957-AD4F02956FD9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EAC58A-FD0F-481F-B20D-99744A4088D5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16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18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F7C3FC-3D5A-49BA-9DFD-3220634BA3DB}"/>
              </a:ext>
            </a:extLst>
          </p:cNvPr>
          <p:cNvSpPr>
            <a:spLocks noGrp="1"/>
          </p:cNvSpPr>
          <p:nvPr/>
        </p:nvSpPr>
        <p:spPr>
          <a:xfrm>
            <a:off x="758952" y="2697480"/>
            <a:ext cx="52989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056FE8-CAD9-47A5-942C-4F9D9B33FA66}"/>
              </a:ext>
            </a:extLst>
          </p:cNvPr>
          <p:cNvSpPr>
            <a:spLocks noGrp="1"/>
          </p:cNvSpPr>
          <p:nvPr/>
        </p:nvSpPr>
        <p:spPr>
          <a:xfrm>
            <a:off x="1014983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A 组：make smoke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7BA26-A029-42D7-9F44-1B039ABB05D8}"/>
              </a:ext>
            </a:extLst>
          </p:cNvPr>
          <p:cNvSpPr>
            <a:spLocks noGrp="1"/>
          </p:cNvSpPr>
          <p:nvPr/>
        </p:nvSpPr>
        <p:spPr>
          <a:xfrm>
            <a:off x="1014983" y="3520440"/>
            <a:ext cx="4841748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容器内 strace 跟踪 md-rd 的 make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看到 openat(… "config.h" …)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app 输出 1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→ E5 重跑，保存 strace -ff 与 make -p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0FCC65-C52C-4945-992D-26C7C224ECFC}"/>
              </a:ext>
            </a:extLst>
          </p:cNvPr>
          <p:cNvSpPr>
            <a:spLocks noGrp="1"/>
          </p:cNvSpPr>
          <p:nvPr/>
        </p:nvSpPr>
        <p:spPr>
          <a:xfrm>
            <a:off x="6515100" y="2697480"/>
            <a:ext cx="52989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5840B-38C3-487C-A598-ACA6896F286F}"/>
              </a:ext>
            </a:extLst>
          </p:cNvPr>
          <p:cNvSpPr>
            <a:spLocks noGrp="1"/>
          </p:cNvSpPr>
          <p:nvPr/>
        </p:nvSpPr>
        <p:spPr>
          <a:xfrm>
            <a:off x="6771132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B 组：make smoke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53496D-94BB-4B44-BEC3-4AC0D257FEA4}"/>
              </a:ext>
            </a:extLst>
          </p:cNvPr>
          <p:cNvSpPr>
            <a:spLocks noGrp="1"/>
          </p:cNvSpPr>
          <p:nvPr/>
        </p:nvSpPr>
        <p:spPr>
          <a:xfrm>
            <a:off x="6771132" y="3520440"/>
            <a:ext cx="4841748" cy="1417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容器内构建 Dockerfile.broken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构建失败，退出码非 0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关键行含 make: not found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→ E5 重跑，保存完整构建日志</a:t>
            </a:r>
          </a:p>
        </p:txBody>
      </p:sp>
    </p:spTree>
    <p:extLst>
      <p:ext uri="{BB962C8B-B14F-4D97-AF65-F5344CB8AC3E}">
        <p14:creationId xmlns:p14="http://schemas.microsoft.com/office/powerpoint/2010/main" val="183458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D0960B-6789-4231-A994-8267495CEA71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E4315C-E002-4A6D-93DA-2A3F8A4245A2}"/>
              </a:ext>
            </a:extLst>
          </p:cNvPr>
          <p:cNvSpPr>
            <a:spLocks noGrp="1"/>
          </p:cNvSpPr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按顺序完成；当堂没做完的，课后继续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5826C0-24F3-40E7-BC4E-4DE011813F49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7351B-7BCD-4953-97A0-4EC4818CCD3C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16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8F1BCE-47E2-42A5-895D-92A664B29655}"/>
              </a:ext>
            </a:extLst>
          </p:cNvPr>
          <p:cNvSpPr>
            <a:spLocks noGrp="1"/>
          </p:cNvSpPr>
          <p:nvPr/>
        </p:nvSpPr>
        <p:spPr>
          <a:xfrm>
            <a:off x="758952" y="2651760"/>
            <a:ext cx="1956816" cy="51206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191995-8BBE-4851-AEDD-C044DDFFC08E}"/>
              </a:ext>
            </a:extLst>
          </p:cNvPr>
          <p:cNvSpPr>
            <a:spLocks noGrp="1"/>
          </p:cNvSpPr>
          <p:nvPr/>
        </p:nvSpPr>
        <p:spPr>
          <a:xfrm>
            <a:off x="758952" y="2651760"/>
            <a:ext cx="1956816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第一步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A8DBE2-0CBE-4BAB-A9CD-AAE97A087E7E}"/>
              </a:ext>
            </a:extLst>
          </p:cNvPr>
          <p:cNvSpPr>
            <a:spLocks noGrp="1"/>
          </p:cNvSpPr>
          <p:nvPr/>
        </p:nvSpPr>
        <p:spPr>
          <a:xfrm>
            <a:off x="3035808" y="2651760"/>
            <a:ext cx="8549640" cy="3581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组长确认本组仓库有模板；空仓库才初始化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6FB9C0-B93E-4510-8FA3-5C5C60D09886}"/>
              </a:ext>
            </a:extLst>
          </p:cNvPr>
          <p:cNvSpPr>
            <a:spLocks noGrp="1"/>
          </p:cNvSpPr>
          <p:nvPr/>
        </p:nvSpPr>
        <p:spPr>
          <a:xfrm>
            <a:off x="758952" y="3273552"/>
            <a:ext cx="1956816" cy="51206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A93912-5A48-448A-9107-242FF29D0AD0}"/>
              </a:ext>
            </a:extLst>
          </p:cNvPr>
          <p:cNvSpPr>
            <a:spLocks noGrp="1"/>
          </p:cNvSpPr>
          <p:nvPr/>
        </p:nvSpPr>
        <p:spPr>
          <a:xfrm>
            <a:off x="758952" y="3273552"/>
            <a:ext cx="1956816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第二步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C84060-4A2A-4DEE-B493-1618F057E97C}"/>
              </a:ext>
            </a:extLst>
          </p:cNvPr>
          <p:cNvSpPr>
            <a:spLocks noGrp="1"/>
          </p:cNvSpPr>
          <p:nvPr/>
        </p:nvSpPr>
        <p:spPr>
          <a:xfrm>
            <a:off x="3035808" y="3273552"/>
            <a:ext cx="8549640" cy="3581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组员登录本组服务器，各自克隆并运行 make doctor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A9FBB5-5DB4-478E-A02A-A44CAB5BE2A8}"/>
              </a:ext>
            </a:extLst>
          </p:cNvPr>
          <p:cNvSpPr>
            <a:spLocks noGrp="1"/>
          </p:cNvSpPr>
          <p:nvPr/>
        </p:nvSpPr>
        <p:spPr>
          <a:xfrm>
            <a:off x="758952" y="3895344"/>
            <a:ext cx="1956816" cy="51206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0FE76D-F01D-4CB9-B3E7-8D6F0E575D41}"/>
              </a:ext>
            </a:extLst>
          </p:cNvPr>
          <p:cNvSpPr>
            <a:spLocks noGrp="1"/>
          </p:cNvSpPr>
          <p:nvPr/>
        </p:nvSpPr>
        <p:spPr>
          <a:xfrm>
            <a:off x="758952" y="3895344"/>
            <a:ext cx="1956816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第三步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258BF1-6DF5-4192-9021-295689F1613C}"/>
              </a:ext>
            </a:extLst>
          </p:cNvPr>
          <p:cNvSpPr>
            <a:spLocks noGrp="1"/>
          </p:cNvSpPr>
          <p:nvPr/>
        </p:nvSpPr>
        <p:spPr>
          <a:xfrm>
            <a:off x="3035808" y="3895344"/>
            <a:ext cx="854964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build，记录 digest、镜像 ID、toolchain.lock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091FCF-3DD8-46A3-AA3F-27D8BC28863F}"/>
              </a:ext>
            </a:extLst>
          </p:cNvPr>
          <p:cNvSpPr>
            <a:spLocks noGrp="1"/>
          </p:cNvSpPr>
          <p:nvPr/>
        </p:nvSpPr>
        <p:spPr>
          <a:xfrm>
            <a:off x="758952" y="4517136"/>
            <a:ext cx="1956816" cy="51206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95EF54-C333-4D2D-890A-930435051017}"/>
              </a:ext>
            </a:extLst>
          </p:cNvPr>
          <p:cNvSpPr>
            <a:spLocks noGrp="1"/>
          </p:cNvSpPr>
          <p:nvPr/>
        </p:nvSpPr>
        <p:spPr>
          <a:xfrm>
            <a:off x="758952" y="4517136"/>
            <a:ext cx="1956816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第四步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0A9CFC-90E4-41EE-A9DE-6494EA3257EE}"/>
              </a:ext>
            </a:extLst>
          </p:cNvPr>
          <p:cNvSpPr>
            <a:spLocks noGrp="1"/>
          </p:cNvSpPr>
          <p:nvPr/>
        </p:nvSpPr>
        <p:spPr>
          <a:xfrm>
            <a:off x="3035808" y="4517136"/>
            <a:ext cx="854964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test 与 make smoke 通过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68FB86-6C7E-4A17-9FD4-1764AC8EBCC9}"/>
              </a:ext>
            </a:extLst>
          </p:cNvPr>
          <p:cNvSpPr>
            <a:spLocks noGrp="1"/>
          </p:cNvSpPr>
          <p:nvPr/>
        </p:nvSpPr>
        <p:spPr>
          <a:xfrm>
            <a:off x="758952" y="5138928"/>
            <a:ext cx="1956816" cy="51206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E6516C-316B-4A6E-8821-69C5572597C5}"/>
              </a:ext>
            </a:extLst>
          </p:cNvPr>
          <p:cNvSpPr>
            <a:spLocks noGrp="1"/>
          </p:cNvSpPr>
          <p:nvPr/>
        </p:nvSpPr>
        <p:spPr>
          <a:xfrm>
            <a:off x="758952" y="5138928"/>
            <a:ext cx="1956816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第五步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FFECF5-1635-4076-8F13-F927E543F2D4}"/>
              </a:ext>
            </a:extLst>
          </p:cNvPr>
          <p:cNvSpPr>
            <a:spLocks noGrp="1"/>
          </p:cNvSpPr>
          <p:nvPr/>
        </p:nvSpPr>
        <p:spPr>
          <a:xfrm>
            <a:off x="3035808" y="5138928"/>
            <a:ext cx="854964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make scan 通过；放一个假 Key，确认能报出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42AD2D-0362-4DFF-81C0-8FB1B3D21EE5}"/>
              </a:ext>
            </a:extLst>
          </p:cNvPr>
          <p:cNvSpPr>
            <a:spLocks noGrp="1"/>
          </p:cNvSpPr>
          <p:nvPr/>
        </p:nvSpPr>
        <p:spPr>
          <a:xfrm>
            <a:off x="758952" y="5760720"/>
            <a:ext cx="1956816" cy="51206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89D290-9D19-4E40-AAEA-0AC805306090}"/>
              </a:ext>
            </a:extLst>
          </p:cNvPr>
          <p:cNvSpPr>
            <a:spLocks noGrp="1"/>
          </p:cNvSpPr>
          <p:nvPr/>
        </p:nvSpPr>
        <p:spPr>
          <a:xfrm>
            <a:off x="758952" y="5760720"/>
            <a:ext cx="1956816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sz="18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第六步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F5F3A-BFC5-47CA-A04D-D747D79B5006}"/>
              </a:ext>
            </a:extLst>
          </p:cNvPr>
          <p:cNvSpPr>
            <a:spLocks noGrp="1"/>
          </p:cNvSpPr>
          <p:nvPr/>
        </p:nvSpPr>
        <p:spPr>
          <a:xfrm>
            <a:off x="3035808" y="5760720"/>
            <a:ext cx="8549640" cy="5120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7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另一名组员重新克隆重跑，对比结果</a:t>
            </a:r>
          </a:p>
        </p:txBody>
      </p:sp>
    </p:spTree>
    <p:extLst>
      <p:ext uri="{BB962C8B-B14F-4D97-AF65-F5344CB8AC3E}">
        <p14:creationId xmlns:p14="http://schemas.microsoft.com/office/powerpoint/2010/main" val="481356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563F96-4C73-4FB4-96FE-74C3A1AF80D0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运行记录与验收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4FF4C-C45D-4B37-B7AB-EBBF0AF4FB7C}"/>
              </a:ext>
            </a:extLst>
          </p:cNvPr>
          <p:cNvSpPr>
            <a:spLocks noGrp="1"/>
          </p:cNvSpPr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每人记录所测模板 SHA 与证据目录；不要用截图代替日志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3ADDFE-7783-4837-9BE7-44CB06D781C8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4EED8B-43BA-4322-9CE5-A287F09359A6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16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20</a:t>
            </a:r>
          </a:p>
        </p:txBody>
      </p:sp>
      <p:graphicFrame>
        <p:nvGraphicFramePr>
          <p:cNvPr id="11" name="Table 5"/>
          <p:cNvGraphicFramePr/>
          <p:nvPr/>
        </p:nvGraphicFramePr>
        <p:xfrm>
          <a:off x="612648" y="2651760"/>
          <a:ext cx="10972800" cy="339242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</a:t>
                      </a:r>
                    </a:p>
                  </a:txBody>
                  <a:tcPr marL="128016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128016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核验方式</a:t>
                      </a:r>
                    </a:p>
                  </a:txBody>
                  <a:tcPr marL="128016" marT="64008" marB="64008" anchor="ctr">
                    <a:solidFill>
                      <a:srgbClr val="BD8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服务仓库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骨架、Dockerfile、compose、Makefile、README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别人按 README 能重跑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环境记录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env.json、build.log、image.json、toolchain.lock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与服务器实际一致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依赖固定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digest、requirements-dev.lock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按哈希安装成功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测试日志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test.log、smoke.json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测试通过，冒烟符合预期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密钥检查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secret-scan.txt、.gitignore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无泄露，.env 未被跟踪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重跑对照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两名组员的结果对比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一致，或差异有解释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70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C92E8F-43B6-4E45-A4C1-899E4C1CA953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相互检查与后续安排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BAEA8E-6C4D-4A60-9019-5962E66E4B58}"/>
              </a:ext>
            </a:extLst>
          </p:cNvPr>
          <p:cNvSpPr>
            <a:spLocks noGrp="1"/>
          </p:cNvSpPr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相邻两组交换仓库地址，只看 README 尝试重跑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8CC857-DE6A-4612-9FF3-AB8703396A7D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2017E4-1CDA-476D-95A9-8A9550905BCE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16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21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760FFF-8291-4E72-9500-AA56FDBDF335}"/>
              </a:ext>
            </a:extLst>
          </p:cNvPr>
          <p:cNvSpPr>
            <a:spLocks noGrp="1"/>
          </p:cNvSpPr>
          <p:nvPr/>
        </p:nvSpPr>
        <p:spPr>
          <a:xfrm>
            <a:off x="758952" y="2697480"/>
            <a:ext cx="52989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781E72-06B0-4139-B92B-E9F1506F5DE6}"/>
              </a:ext>
            </a:extLst>
          </p:cNvPr>
          <p:cNvSpPr>
            <a:spLocks noGrp="1"/>
          </p:cNvSpPr>
          <p:nvPr/>
        </p:nvSpPr>
        <p:spPr>
          <a:xfrm>
            <a:off x="1014983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相互检查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FE38D9-6449-49B8-9078-80E2B61B7CA0}"/>
              </a:ext>
            </a:extLst>
          </p:cNvPr>
          <p:cNvSpPr>
            <a:spLocks noGrp="1"/>
          </p:cNvSpPr>
          <p:nvPr/>
        </p:nvSpPr>
        <p:spPr>
          <a:xfrm>
            <a:off x="1014983" y="3520440"/>
            <a:ext cx="4841748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只看 README 能重跑吗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两名组员各有成功记录吗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仓库、历史、镜像里有 Key 吗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证据目录能对应模板 SHA 吗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E23114-572C-4DE6-88B2-614149B7AB46}"/>
              </a:ext>
            </a:extLst>
          </p:cNvPr>
          <p:cNvSpPr>
            <a:spLocks noGrp="1"/>
          </p:cNvSpPr>
          <p:nvPr/>
        </p:nvSpPr>
        <p:spPr>
          <a:xfrm>
            <a:off x="6515100" y="2697480"/>
            <a:ext cx="529894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84E47C-11CA-4409-AFEB-D8D932D95922}"/>
              </a:ext>
            </a:extLst>
          </p:cNvPr>
          <p:cNvSpPr>
            <a:spLocks noGrp="1"/>
          </p:cNvSpPr>
          <p:nvPr/>
        </p:nvSpPr>
        <p:spPr>
          <a:xfrm>
            <a:off x="6771132" y="2926080"/>
            <a:ext cx="4841748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后续任务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6BBB1E-A1B4-4524-92C2-CC422013635C}"/>
              </a:ext>
            </a:extLst>
          </p:cNvPr>
          <p:cNvSpPr>
            <a:spLocks noGrp="1"/>
          </p:cNvSpPr>
          <p:nvPr/>
        </p:nvSpPr>
        <p:spPr>
          <a:xfrm>
            <a:off x="6771132" y="3520440"/>
            <a:ext cx="4841748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E5：在此环境复现论文 1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E6—E7：MVP、测试与 CI 门禁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E12：A/B 接入真实数据联调</a:t>
            </a:r>
          </a:p>
          <a:p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E13：Secret 与失败隔离检查</a:t>
            </a:r>
          </a:p>
        </p:txBody>
      </p:sp>
    </p:spTree>
    <p:extLst>
      <p:ext uri="{BB962C8B-B14F-4D97-AF65-F5344CB8AC3E}">
        <p14:creationId xmlns:p14="http://schemas.microsoft.com/office/powerpoint/2010/main" val="1909938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DB3AF1-CADC-4554-AA1D-3A2AEA0F83DD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备查：阿里云服务器初始化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1855DD-13EC-4398-BDFE-A1B4FA80CF64}"/>
              </a:ext>
            </a:extLst>
          </p:cNvPr>
          <p:cNvSpPr>
            <a:spLocks noGrp="1"/>
          </p:cNvSpPr>
          <p:nvPr/>
        </p:nvSpPr>
        <p:spPr>
          <a:xfrm>
            <a:off x="530352" y="1837943"/>
            <a:ext cx="111282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教师轮换初始凭据；Docker 缺失时由有权限者初始化一次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9243CE-871A-4F0C-8204-10715877412F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0832E-A8CE-4829-B92D-0C9BF6FC70C1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16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22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2AAF3B-3804-4CBD-89A0-C429D561C8BF}"/>
              </a:ext>
            </a:extLst>
          </p:cNvPr>
          <p:cNvSpPr>
            <a:spLocks noGrp="1"/>
          </p:cNvSpPr>
          <p:nvPr/>
        </p:nvSpPr>
        <p:spPr>
          <a:xfrm>
            <a:off x="621792" y="2587752"/>
            <a:ext cx="6839712" cy="3566160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AB3444-9C86-4BC1-8BBF-4CD8382966A8}"/>
              </a:ext>
            </a:extLst>
          </p:cNvPr>
          <p:cNvSpPr>
            <a:spLocks noGrp="1"/>
          </p:cNvSpPr>
          <p:nvPr/>
        </p:nvSpPr>
        <p:spPr>
          <a:xfrm>
            <a:off x="804672" y="2752344"/>
            <a:ext cx="6519672" cy="20802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 先确认 Ubuntu 22.04 / 24.04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sudo bash setup/bootstrap_ubuntu.sh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endParaRPr sz="1350" b="0">
              <a:solidFill>
                <a:srgbClr val="1C274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 验证工具已安装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docker version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docker compose version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docker buildx version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endParaRPr sz="1350" b="0">
              <a:solidFill>
                <a:srgbClr val="1C2740"/>
              </a:solidFill>
              <a:latin typeface="Consolas"/>
              <a:ea typeface="Consolas"/>
              <a:cs typeface="Consolas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# 镜像可达性与构建：见命令手册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BD3BA9-5B52-4AB3-B5A0-DFA1D332606E}"/>
              </a:ext>
            </a:extLst>
          </p:cNvPr>
          <p:cNvSpPr>
            <a:spLocks noGrp="1"/>
          </p:cNvSpPr>
          <p:nvPr/>
        </p:nvSpPr>
        <p:spPr>
          <a:xfrm>
            <a:off x="7827264" y="2679192"/>
            <a:ext cx="383133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F7E229-E1BC-41FD-ACC3-9D1D595213CF}"/>
              </a:ext>
            </a:extLst>
          </p:cNvPr>
          <p:cNvSpPr>
            <a:spLocks noGrp="1"/>
          </p:cNvSpPr>
          <p:nvPr/>
        </p:nvSpPr>
        <p:spPr>
          <a:xfrm>
            <a:off x="7827264" y="3364992"/>
            <a:ext cx="3831335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一次装好 Docker、Compose、Git、Make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 可运行后仍要验证镜像可达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登录账号加入 docker 组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SSH 限可信来源；勿开放 Docker API</a:t>
            </a:r>
          </a:p>
        </p:txBody>
      </p:sp>
    </p:spTree>
    <p:extLst>
      <p:ext uri="{BB962C8B-B14F-4D97-AF65-F5344CB8AC3E}">
        <p14:creationId xmlns:p14="http://schemas.microsoft.com/office/powerpoint/2010/main" val="1845932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E33090-0601-42BC-8ECC-AAACF43E827F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备查：E4 实验包目录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124BB1-5487-4BF0-89B5-8AA6041C6BA6}"/>
              </a:ext>
            </a:extLst>
          </p:cNvPr>
          <p:cNvSpPr>
            <a:spLocks noGrp="1"/>
          </p:cNvSpPr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两份服务仓库模板 + 服务器初始化脚本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777EC1-85B0-4A39-A3FF-A03FFCB026CE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C8C9E7-F517-4915-8619-2797D831058D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16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C5683D-BD63-467B-9B4E-E9E9CDE04EED}"/>
              </a:ext>
            </a:extLst>
          </p:cNvPr>
          <p:cNvSpPr>
            <a:spLocks noGrp="1"/>
          </p:cNvSpPr>
          <p:nvPr/>
        </p:nvSpPr>
        <p:spPr>
          <a:xfrm>
            <a:off x="621792" y="2587752"/>
            <a:ext cx="6839712" cy="3566160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94367E-E17B-4ACA-A92B-7E59E7DA31A4}"/>
              </a:ext>
            </a:extLst>
          </p:cNvPr>
          <p:cNvSpPr>
            <a:spLocks noGrp="1"/>
          </p:cNvSpPr>
          <p:nvPr/>
        </p:nvSpPr>
        <p:spPr>
          <a:xfrm>
            <a:off x="804672" y="2752344"/>
            <a:ext cx="6519672" cy="3291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E4实验包/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README.md               教师与助教说明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setup/bootstrap_ubuntu.sh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A-buildchecker/         A 组仓库模板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services/buildchecker/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fixtures/md-rd/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compose.yaml  Makefile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requirements-dev.in/.lock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scripts/doctor.py  secret_scan.py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B-draft/                B 组仓库模板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services/draft/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fixtures/draft/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1C2740"/>
                </a:solidFill>
                <a:latin typeface="Consolas"/>
                <a:ea typeface="Consolas"/>
                <a:cs typeface="Consolas"/>
              </a:rPr>
              <a:t>    （其余与 A 相同）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322509-9309-4DA8-95C3-F035D50C196C}"/>
              </a:ext>
            </a:extLst>
          </p:cNvPr>
          <p:cNvSpPr>
            <a:spLocks noGrp="1"/>
          </p:cNvSpPr>
          <p:nvPr/>
        </p:nvSpPr>
        <p:spPr>
          <a:xfrm>
            <a:off x="7827264" y="2679192"/>
            <a:ext cx="3831335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2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90E151-67BE-416B-89C4-D85BBD1DC486}"/>
              </a:ext>
            </a:extLst>
          </p:cNvPr>
          <p:cNvSpPr>
            <a:spLocks noGrp="1"/>
          </p:cNvSpPr>
          <p:nvPr/>
        </p:nvSpPr>
        <p:spPr>
          <a:xfrm>
            <a:off x="7827264" y="3364992"/>
            <a:ext cx="3831335" cy="274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两份模板结构相同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样例取自 E3，只保留源码</a:t>
            </a:r>
          </a:p>
          <a:p>
            <a:pPr algn="l">
              <a:spcAft>
                <a:spcPts val="800"/>
              </a:spcAft>
              <a:buNone/>
            </a:pPr>
            <a:r>
              <a:rPr sz="17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work/ 不进镜像、不进仓库</a:t>
            </a:r>
          </a:p>
        </p:txBody>
      </p:sp>
    </p:spTree>
    <p:extLst>
      <p:ext uri="{BB962C8B-B14F-4D97-AF65-F5344CB8AC3E}">
        <p14:creationId xmlns:p14="http://schemas.microsoft.com/office/powerpoint/2010/main" val="4878323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D67781-0A87-469F-9F5F-3F5C5F48B812}"/>
              </a:ext>
            </a:extLst>
          </p:cNvPr>
          <p:cNvSpPr>
            <a:spLocks noGrp="1"/>
          </p:cNvSpPr>
          <p:nvPr/>
        </p:nvSpPr>
        <p:spPr>
          <a:xfrm>
            <a:off x="530352" y="1335024"/>
            <a:ext cx="111282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备查：常见问题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22D647-DD5F-413D-B297-A94E4AB2E3AA}"/>
              </a:ext>
            </a:extLst>
          </p:cNvPr>
          <p:cNvSpPr>
            <a:spLocks noGrp="1"/>
          </p:cNvSpPr>
          <p:nvPr/>
        </p:nvSpPr>
        <p:spPr>
          <a:xfrm>
            <a:off x="530352" y="1837943"/>
            <a:ext cx="11128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先看报错原文，再对照下表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FA27D1-4BDF-4C2A-B3EC-8F479EEFEA59}"/>
              </a:ext>
            </a:extLst>
          </p:cNvPr>
          <p:cNvSpPr>
            <a:spLocks noGrp="1"/>
          </p:cNvSpPr>
          <p:nvPr/>
        </p:nvSpPr>
        <p:spPr>
          <a:xfrm>
            <a:off x="530352" y="2249424"/>
            <a:ext cx="11128248" cy="18288"/>
          </a:xfrm>
          <a:prstGeom prst="rect">
            <a:avLst/>
          </a:prstGeom>
          <a:solidFill>
            <a:srgbClr val="BD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085655-58CB-4235-A909-74361808CC60}"/>
              </a:ext>
            </a:extLst>
          </p:cNvPr>
          <p:cNvSpPr>
            <a:spLocks noGrp="1"/>
          </p:cNvSpPr>
          <p:nvPr/>
        </p:nvSpPr>
        <p:spPr>
          <a:xfrm>
            <a:off x="10287000" y="6400800"/>
            <a:ext cx="1371600" cy="16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  <a:buNone/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E4  /  24</a:t>
            </a:r>
          </a:p>
        </p:txBody>
      </p:sp>
      <p:graphicFrame>
        <p:nvGraphicFramePr>
          <p:cNvPr id="11" name="Table 5"/>
          <p:cNvGraphicFramePr/>
          <p:nvPr/>
        </p:nvGraphicFramePr>
        <p:xfrm>
          <a:off x="612648" y="2560320"/>
          <a:ext cx="10972800" cy="329184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现象</a:t>
                      </a:r>
                    </a:p>
                  </a:txBody>
                  <a:tcPr marL="128016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原因</a:t>
                      </a:r>
                    </a:p>
                  </a:txBody>
                  <a:tcPr marL="128016" marT="64008" marB="64008" anchor="ctr">
                    <a:solidFill>
                      <a:srgbClr val="BD8B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</a:t>
                      </a:r>
                    </a:p>
                  </a:txBody>
                  <a:tcPr marL="128016" marT="64008" marB="64008" anchor="ctr">
                    <a:solidFill>
                      <a:srgbClr val="BD8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宿主机上 permission denied … docker.sock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账号不在 docker 组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sudo usermod -aG docker $USER，重新登录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组容器内 permission denied … docker.sock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没有加入 docker.sock 的组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 make 运行，或先设置 DOCKER_GID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strace: Operation not permitted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容器限制了 ptrace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确认 compose 中有 cap_add: SYS_PTRACE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拉取镜像超时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Docker Hub 直连超时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A/B 组用同 digest 镜像站；见手册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 space left on device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镜像与构建缓存占满磁盘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make clean；docker builder prune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提交作者显示成别人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用了共享的全局身份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删除 --global，在自己的克隆里设置学号</a:t>
                      </a:r>
                    </a:p>
                  </a:txBody>
                  <a:tcPr marL="128016" marT="64008" marB="64008"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 NOT MATCH THE HASHES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锁文件与 .in 不一致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make lock 重新生成并提交</a:t>
                      </a:r>
                    </a:p>
                  </a:txBody>
                  <a:tcPr marL="128016" marT="64008" marB="6400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6051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2889</Words>
  <Application>Microsoft Office PowerPoint</Application>
  <DocSecurity>0</DocSecurity>
  <PresentationFormat>宽屏</PresentationFormat>
  <Paragraphs>466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等线</vt:lpstr>
      <vt:lpstr>微软雅黑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Lowell lance</cp:lastModifiedBy>
  <cp:revision>1</cp:revision>
  <dcterms:created xsi:type="dcterms:W3CDTF">2026-09-28T19:19:50Z</dcterms:created>
  <dcterms:modified xsi:type="dcterms:W3CDTF">2026-10-13T23:00:43Z</dcterms:modified>
</cp:coreProperties>
</file>